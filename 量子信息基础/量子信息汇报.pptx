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260" r:id="rId4"/>
    <p:sldId id="284" r:id="rId5"/>
    <p:sldId id="285" r:id="rId6"/>
    <p:sldId id="288" r:id="rId7"/>
    <p:sldId id="286" r:id="rId8"/>
    <p:sldId id="283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7EB"/>
    <a:srgbClr val="ECF4FB"/>
    <a:srgbClr val="F7FDFE"/>
    <a:srgbClr val="E6F6F9"/>
    <a:srgbClr val="E7EEF7"/>
    <a:srgbClr val="AFABAB"/>
    <a:srgbClr val="595959"/>
    <a:srgbClr val="B9B9B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6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626F-3C3F-4015-BFA0-DB08E9CDE3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6D368-CBDF-4EC8-A09E-7865E2A2E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8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3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3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4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4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7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1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1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2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A10D-2B2D-471A-9601-27474E66AA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9.xml"/><Relationship Id="rId10" Type="http://schemas.openxmlformats.org/officeDocument/2006/relationships/image" Target="../media/image16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2.xml"/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3.jpe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6"/>
          <p:cNvGrpSpPr/>
          <p:nvPr/>
        </p:nvGrpSpPr>
        <p:grpSpPr>
          <a:xfrm>
            <a:off x="0" y="902335"/>
            <a:ext cx="12191365" cy="5216525"/>
            <a:chOff x="-1" y="1609725"/>
            <a:chExt cx="12192002" cy="4243803"/>
          </a:xfrm>
        </p:grpSpPr>
        <p:pic>
          <p:nvPicPr>
            <p:cNvPr id="2097152" name="Picture 3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2767" r="7205" b="57679"/>
            <a:stretch>
              <a:fillRect/>
            </a:stretch>
          </p:blipFill>
          <p:spPr bwMode="auto">
            <a:xfrm rot="10800000">
              <a:off x="-1" y="5218330"/>
              <a:ext cx="12192001" cy="63519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586" name="矩形 9"/>
            <p:cNvSpPr/>
            <p:nvPr/>
          </p:nvSpPr>
          <p:spPr>
            <a:xfrm>
              <a:off x="-1" y="1609725"/>
              <a:ext cx="12192002" cy="3655405"/>
            </a:xfrm>
            <a:prstGeom prst="rect">
              <a:avLst/>
            </a:prstGeom>
            <a:solidFill>
              <a:srgbClr val="F7FDF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145728" name="直接连接符 14"/>
          <p:cNvCxnSpPr/>
          <p:nvPr/>
        </p:nvCxnSpPr>
        <p:spPr>
          <a:xfrm flipH="1" flipV="1">
            <a:off x="2347597" y="3937686"/>
            <a:ext cx="7865745" cy="22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文本框 25"/>
          <p:cNvSpPr txBox="1"/>
          <p:nvPr/>
        </p:nvSpPr>
        <p:spPr>
          <a:xfrm>
            <a:off x="5993130" y="4220210"/>
            <a:ext cx="6265545" cy="177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</a:t>
            </a:r>
            <a:endParaRPr lang="zh-CN" altLang="en-US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日期：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2026.04.30</a:t>
            </a:r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6" y="902055"/>
            <a:ext cx="4959457" cy="108489"/>
          </a:xfrm>
          <a:prstGeom prst="parallelogram">
            <a:avLst>
              <a:gd name="adj" fmla="val 805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7232510" y="5395823"/>
            <a:ext cx="4959457" cy="108489"/>
          </a:xfrm>
          <a:prstGeom prst="parallelogram">
            <a:avLst>
              <a:gd name="adj" fmla="val 805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75055" y="2303145"/>
            <a:ext cx="109391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>
                <a:solidFill>
                  <a:schemeClr val="accent1">
                    <a:lumMod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朋友圈的“观察者效应”：</a:t>
            </a:r>
            <a:endParaRPr lang="zh-CN" altLang="en-US" sz="4000" b="1">
              <a:solidFill>
                <a:schemeClr val="accent1">
                  <a:lumMod val="50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/>
            <a:r>
              <a:rPr lang="zh-CN" altLang="en-US" sz="4000" b="1">
                <a:solidFill>
                  <a:schemeClr val="accent1">
                    <a:lumMod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被注视的你，还是真实的你吗？</a:t>
            </a:r>
            <a:endParaRPr lang="zh-CN" altLang="en-US" sz="4000" b="1">
              <a:solidFill>
                <a:schemeClr val="accent1">
                  <a:lumMod val="50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文本框 13"/>
          <p:cNvSpPr txBox="1"/>
          <p:nvPr/>
        </p:nvSpPr>
        <p:spPr>
          <a:xfrm>
            <a:off x="207645" y="197485"/>
            <a:ext cx="651954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波函数：量子系统的“可能性结构”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sp>
        <p:nvSpPr>
          <p:cNvPr id="3" name="AutoShape 9"/>
          <p:cNvSpPr/>
          <p:nvPr>
            <p:custDataLst>
              <p:tags r:id="rId2"/>
            </p:custDataLst>
          </p:nvPr>
        </p:nvSpPr>
        <p:spPr>
          <a:xfrm>
            <a:off x="640080" y="1095375"/>
            <a:ext cx="5924550" cy="3328670"/>
          </a:xfrm>
          <a:prstGeom prst="roundRect">
            <a:avLst>
              <a:gd name="adj" fmla="val 4137"/>
            </a:avLst>
          </a:prstGeom>
          <a:solidFill>
            <a:srgbClr val="ECF4FB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文本框 10"/>
          <p:cNvSpPr txBox="1"/>
          <p:nvPr/>
        </p:nvSpPr>
        <p:spPr>
          <a:xfrm>
            <a:off x="640080" y="1206500"/>
            <a:ext cx="5821680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在量子力学中，粒子的状态由波函数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表示，给出了粒子在空间中各种可能结果的概率结构。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根据统计诠释：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,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表示粒子在位置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附近被测到的概率密度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波函数本身通常不是直接可观测量。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波函数需要满足归一化条件：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040" y="1265555"/>
            <a:ext cx="992505" cy="4006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090" y="1946275"/>
            <a:ext cx="2164715" cy="5073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365" y="2453640"/>
            <a:ext cx="1028700" cy="3632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3621405"/>
            <a:ext cx="2372360" cy="621665"/>
          </a:xfrm>
          <a:prstGeom prst="rect">
            <a:avLst/>
          </a:prstGeom>
        </p:spPr>
      </p:pic>
      <p:sp>
        <p:nvSpPr>
          <p:cNvPr id="23" name="AutoShape 9"/>
          <p:cNvSpPr/>
          <p:nvPr>
            <p:custDataLst>
              <p:tags r:id="rId7"/>
            </p:custDataLst>
          </p:nvPr>
        </p:nvSpPr>
        <p:spPr>
          <a:xfrm>
            <a:off x="639445" y="4935855"/>
            <a:ext cx="5925185" cy="1432560"/>
          </a:xfrm>
          <a:prstGeom prst="roundRect">
            <a:avLst>
              <a:gd name="adj" fmla="val 4137"/>
            </a:avLst>
          </a:prstGeom>
          <a:solidFill>
            <a:srgbClr val="F1F7EB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文本框 23"/>
          <p:cNvSpPr txBox="1"/>
          <p:nvPr/>
        </p:nvSpPr>
        <p:spPr>
          <a:xfrm>
            <a:off x="2875915" y="4424045"/>
            <a:ext cx="265938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en-US" altLang="zh-CN" dirty="0"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   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类比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25" name="右箭头 24"/>
          <p:cNvSpPr/>
          <p:nvPr/>
        </p:nvSpPr>
        <p:spPr>
          <a:xfrm rot="5400000">
            <a:off x="3088640" y="4558665"/>
            <a:ext cx="704215" cy="23685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75615" y="5021580"/>
            <a:ext cx="5986145" cy="153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朋友圈中的“你”也不应该被理解成一个固定点。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现实中的你可能同时包含：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开心与疲惫、上进与摆烂、外向与孤独、精致与混乱</a:t>
            </a:r>
            <a:r>
              <a:rPr lang="zh-CN" altLang="en-US" dirty="0">
                <a:latin typeface="Times New Roman" panose="02020603050405020304" charset="0"/>
                <a:ea typeface="汉仪雅酷黑-85J" panose="00020600040101010101" charset="-122"/>
                <a:cs typeface="Times New Roman" panose="02020603050405020304" charset="0"/>
              </a:rPr>
              <a:t>。</a:t>
            </a:r>
            <a:endParaRPr lang="zh-CN" altLang="en-US" dirty="0"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4490" y="3477260"/>
            <a:ext cx="3569970" cy="3559175"/>
          </a:xfrm>
          <a:prstGeom prst="rect">
            <a:avLst/>
          </a:prstGeom>
        </p:spPr>
      </p:pic>
      <p:sp>
        <p:nvSpPr>
          <p:cNvPr id="28" name="椭圆 27"/>
          <p:cNvSpPr/>
          <p:nvPr/>
        </p:nvSpPr>
        <p:spPr>
          <a:xfrm>
            <a:off x="7984490" y="3559175"/>
            <a:ext cx="3199765" cy="2969895"/>
          </a:xfrm>
          <a:prstGeom prst="ellipse">
            <a:avLst/>
          </a:prstGeom>
          <a:noFill/>
          <a:ln w="12700" cmpd="sng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13"/>
          <p:cNvSpPr txBox="1"/>
          <p:nvPr/>
        </p:nvSpPr>
        <p:spPr>
          <a:xfrm>
            <a:off x="6971665" y="1160780"/>
            <a:ext cx="5034915" cy="1123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叠加态表示多种可能同时存在，而波函数本征值前面的系数加权，也可以与朋友圈概率分布被“社交环境”重新加权相类比。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690" y="2363153"/>
            <a:ext cx="1599565" cy="69215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8459470" y="2147570"/>
            <a:ext cx="3547110" cy="1123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开心、积极 → 更容易被展示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疲惫、焦虑 → 更容易被隐藏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精致生活 → 更容易获得反馈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867525" y="958850"/>
            <a:ext cx="6985" cy="5570220"/>
          </a:xfrm>
          <a:prstGeom prst="line">
            <a:avLst/>
          </a:prstGeom>
          <a:ln w="38100" cmpd="sng">
            <a:solidFill>
              <a:schemeClr val="accent1">
                <a:shade val="50000"/>
                <a:alpha val="48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文本框 13"/>
          <p:cNvSpPr txBox="1"/>
          <p:nvPr/>
        </p:nvSpPr>
        <p:spPr>
          <a:xfrm>
            <a:off x="236855" y="222885"/>
            <a:ext cx="893191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测量：从可能性到确定性的转换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2740" y="1401445"/>
            <a:ext cx="11371580" cy="2027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在量子力学中，测量并不是“读取信息”，而是一个物理过程。测量前系统处于叠加态，测量后系统坍缩为某个本征态。数学表达为：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测量结果出现的概率为：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95" y="1860550"/>
            <a:ext cx="3100070" cy="7226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95" y="2536190"/>
            <a:ext cx="1378585" cy="590550"/>
          </a:xfrm>
          <a:prstGeom prst="rect">
            <a:avLst/>
          </a:prstGeom>
        </p:spPr>
      </p:pic>
      <p:sp>
        <p:nvSpPr>
          <p:cNvPr id="18" name="剪去单角的矩形 45"/>
          <p:cNvSpPr/>
          <p:nvPr>
            <p:custDataLst>
              <p:tags r:id="rId4"/>
            </p:custDataLst>
          </p:nvPr>
        </p:nvSpPr>
        <p:spPr>
          <a:xfrm flipV="1">
            <a:off x="858520" y="982980"/>
            <a:ext cx="1502410" cy="473075"/>
          </a:xfrm>
          <a:prstGeom prst="snip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6155" y="1033145"/>
            <a:ext cx="1475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量子信息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" name="剪去单角的矩形 45"/>
          <p:cNvSpPr/>
          <p:nvPr>
            <p:custDataLst>
              <p:tags r:id="rId5"/>
            </p:custDataLst>
          </p:nvPr>
        </p:nvSpPr>
        <p:spPr>
          <a:xfrm flipV="1">
            <a:off x="885190" y="3378835"/>
            <a:ext cx="1502410" cy="473075"/>
          </a:xfrm>
          <a:prstGeom prst="snip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7135" y="3429000"/>
            <a:ext cx="1475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朋友圈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2740" y="3962400"/>
            <a:ext cx="9551035" cy="2027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此处，我们可以进行一个不太恰当的类比：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）点赞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本征值：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点赞数 → 对某种表达的“测量结果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）评论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测量反馈：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强化或修正你的表达方式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）浏览量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测量发生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没人看 ≈ 没有测量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被看到 ≈ 状态被“激活”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可见≈ 投影算符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你主动选择只让谁看到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把自己投影到某个子空间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 l="1787" r="1500"/>
          <a:stretch>
            <a:fillRect/>
          </a:stretch>
        </p:blipFill>
        <p:spPr>
          <a:xfrm>
            <a:off x="7762875" y="1938020"/>
            <a:ext cx="3862705" cy="1954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7"/>
          <p:cNvSpPr/>
          <p:nvPr>
            <p:custDataLst>
              <p:tags r:id="rId1"/>
            </p:custDataLst>
          </p:nvPr>
        </p:nvSpPr>
        <p:spPr>
          <a:xfrm>
            <a:off x="539115" y="4123055"/>
            <a:ext cx="6259195" cy="247713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7"/>
          <p:cNvSpPr/>
          <p:nvPr>
            <p:custDataLst>
              <p:tags r:id="rId2"/>
            </p:custDataLst>
          </p:nvPr>
        </p:nvSpPr>
        <p:spPr>
          <a:xfrm>
            <a:off x="554990" y="1483995"/>
            <a:ext cx="5186045" cy="247713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22250"/>
            <a:ext cx="893191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不确定性原理：真实与表现之间的张力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9440" y="1483995"/>
            <a:ext cx="5141595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量子信息中，不确定性原理是非常重要的思想。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对于位置和动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，有：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这不是仪器不够精确造成的误差，而是量子态本身的结构限制，即系统无法同时在两个共轭变量上都完全确定。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054225"/>
            <a:ext cx="1266190" cy="7740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6575" y="4124325"/>
            <a:ext cx="6261735" cy="2476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朋友圈中的“自我展示”也存在类似张力，如：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40000"/>
              </a:lnSpc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想让别人认为你是“积极的人”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要隐藏疲惫与消极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40000"/>
              </a:lnSpc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你想塑造一个清晰形象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压缩自身的复杂性。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就像波包越窄（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Δx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小），动量分布越宽（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Δp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越精确地定义自己，越可能牺牲真实自我的复杂性。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左箭头 4"/>
          <p:cNvSpPr/>
          <p:nvPr/>
        </p:nvSpPr>
        <p:spPr>
          <a:xfrm>
            <a:off x="3221990" y="5087620"/>
            <a:ext cx="481330" cy="185420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左箭头 5"/>
          <p:cNvSpPr/>
          <p:nvPr/>
        </p:nvSpPr>
        <p:spPr>
          <a:xfrm rot="10800000">
            <a:off x="3501390" y="5087620"/>
            <a:ext cx="481330" cy="185420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左箭头 6"/>
          <p:cNvSpPr/>
          <p:nvPr/>
        </p:nvSpPr>
        <p:spPr>
          <a:xfrm rot="10800000">
            <a:off x="4107815" y="4686300"/>
            <a:ext cx="481330" cy="185420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>
            <a:off x="3921760" y="4686300"/>
            <a:ext cx="481330" cy="185420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AutoShape 7"/>
          <p:cNvSpPr/>
          <p:nvPr>
            <p:custDataLst>
              <p:tags r:id="rId5"/>
            </p:custDataLst>
          </p:nvPr>
        </p:nvSpPr>
        <p:spPr>
          <a:xfrm>
            <a:off x="501650" y="4159885"/>
            <a:ext cx="97790" cy="247713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剪去单角的矩形 45"/>
          <p:cNvSpPr/>
          <p:nvPr>
            <p:custDataLst>
              <p:tags r:id="rId6"/>
            </p:custDataLst>
          </p:nvPr>
        </p:nvSpPr>
        <p:spPr>
          <a:xfrm flipV="1">
            <a:off x="554990" y="868045"/>
            <a:ext cx="3966845" cy="418465"/>
          </a:xfrm>
          <a:prstGeom prst="snip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4505" y="807085"/>
            <a:ext cx="516953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越想精确展示，越失去完整性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rcRect t="20231" r="1496" b="20361"/>
          <a:stretch>
            <a:fillRect/>
          </a:stretch>
        </p:blipFill>
        <p:spPr>
          <a:xfrm>
            <a:off x="9719945" y="4122420"/>
            <a:ext cx="1754505" cy="23444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rcRect t="19907" b="19824"/>
          <a:stretch>
            <a:fillRect/>
          </a:stretch>
        </p:blipFill>
        <p:spPr>
          <a:xfrm>
            <a:off x="7571105" y="4110990"/>
            <a:ext cx="1852295" cy="23437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rcRect t="20231" b="19611"/>
          <a:stretch>
            <a:fillRect/>
          </a:stretch>
        </p:blipFill>
        <p:spPr>
          <a:xfrm>
            <a:off x="7571105" y="1419860"/>
            <a:ext cx="1852295" cy="23450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rcRect l="3299" t="19907" r="2213" b="20583"/>
          <a:stretch>
            <a:fillRect/>
          </a:stretch>
        </p:blipFill>
        <p:spPr>
          <a:xfrm>
            <a:off x="9719945" y="1412240"/>
            <a:ext cx="1754505" cy="2352675"/>
          </a:xfrm>
          <a:prstGeom prst="rect">
            <a:avLst/>
          </a:prstGeom>
        </p:spPr>
      </p:pic>
      <p:sp>
        <p:nvSpPr>
          <p:cNvPr id="22" name="AutoShape 7"/>
          <p:cNvSpPr/>
          <p:nvPr>
            <p:custDataLst>
              <p:tags r:id="rId11"/>
            </p:custDataLst>
          </p:nvPr>
        </p:nvSpPr>
        <p:spPr>
          <a:xfrm>
            <a:off x="495300" y="1466215"/>
            <a:ext cx="97790" cy="247713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7"/>
          <p:cNvSpPr/>
          <p:nvPr>
            <p:custDataLst>
              <p:tags r:id="rId1"/>
            </p:custDataLst>
          </p:nvPr>
        </p:nvSpPr>
        <p:spPr>
          <a:xfrm>
            <a:off x="539115" y="4123055"/>
            <a:ext cx="6034405" cy="247713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7"/>
          <p:cNvSpPr/>
          <p:nvPr>
            <p:custDataLst>
              <p:tags r:id="rId2"/>
            </p:custDataLst>
          </p:nvPr>
        </p:nvSpPr>
        <p:spPr>
          <a:xfrm>
            <a:off x="539115" y="1466215"/>
            <a:ext cx="5767705" cy="2477135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22250"/>
            <a:ext cx="893191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不确定性原理：真实与表现之间的张力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5434330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5625" y="1483995"/>
            <a:ext cx="5894070" cy="2802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可观测量由算符表示，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例如动量算符：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能量算符，即哈密顿算符：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定态薛定谔方程写作：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不同的测量，对应不同的算符；不同算符作用在同一个状态上，可能得到不同结果。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40000"/>
              </a:lnSpc>
              <a:buClrTx/>
              <a:buSzTx/>
              <a:buFontTx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9440" y="4123690"/>
            <a:ext cx="6145530" cy="2476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ea typeface="汉仪雅酷黑-85J" panose="00020600040101010101" charset="-122"/>
              <a:cs typeface="Times New Roman" panose="02020603050405020304" charset="0"/>
            </a:endParaRPr>
          </a:p>
        </p:txBody>
      </p:sp>
      <p:sp>
        <p:nvSpPr>
          <p:cNvPr id="18" name="剪去单角的矩形 45"/>
          <p:cNvSpPr/>
          <p:nvPr>
            <p:custDataLst>
              <p:tags r:id="rId4"/>
            </p:custDataLst>
          </p:nvPr>
        </p:nvSpPr>
        <p:spPr>
          <a:xfrm flipV="1">
            <a:off x="554990" y="868045"/>
            <a:ext cx="4996180" cy="418465"/>
          </a:xfrm>
          <a:prstGeom prst="snip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6855" y="807085"/>
            <a:ext cx="541401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测量方式决定结果：你被什么“算符”观察？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715" y="1796415"/>
            <a:ext cx="1317625" cy="6470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00" y="2192020"/>
            <a:ext cx="2392680" cy="7924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0570" y="2697480"/>
            <a:ext cx="1176655" cy="396240"/>
          </a:xfrm>
          <a:prstGeom prst="rect">
            <a:avLst/>
          </a:prstGeom>
        </p:spPr>
      </p:pic>
      <p:sp>
        <p:nvSpPr>
          <p:cNvPr id="22" name="AutoShape 7"/>
          <p:cNvSpPr/>
          <p:nvPr>
            <p:custDataLst>
              <p:tags r:id="rId8"/>
            </p:custDataLst>
          </p:nvPr>
        </p:nvSpPr>
        <p:spPr>
          <a:xfrm>
            <a:off x="501650" y="4124325"/>
            <a:ext cx="97790" cy="2477135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7"/>
          <p:cNvSpPr/>
          <p:nvPr>
            <p:custDataLst>
              <p:tags r:id="rId9"/>
            </p:custDataLst>
          </p:nvPr>
        </p:nvSpPr>
        <p:spPr>
          <a:xfrm>
            <a:off x="495300" y="1466215"/>
            <a:ext cx="97790" cy="247713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文本框 24"/>
          <p:cNvSpPr txBox="1"/>
          <p:nvPr/>
        </p:nvSpPr>
        <p:spPr>
          <a:xfrm>
            <a:off x="539115" y="4124325"/>
            <a:ext cx="5691505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朋友圈的“观众算符”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不仅被别人测量，还在主动选择“如何被测量”。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583" y="4650740"/>
            <a:ext cx="3101340" cy="45974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595" y="5115560"/>
            <a:ext cx="2872105" cy="45466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805" y="5637848"/>
            <a:ext cx="2842895" cy="42227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13"/>
          <a:stretch>
            <a:fillRect/>
          </a:stretch>
        </p:blipFill>
        <p:spPr>
          <a:xfrm>
            <a:off x="7262495" y="1483995"/>
            <a:ext cx="3764280" cy="4916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9"/>
          <p:cNvSpPr/>
          <p:nvPr>
            <p:custDataLst>
              <p:tags r:id="rId1"/>
            </p:custDataLst>
          </p:nvPr>
        </p:nvSpPr>
        <p:spPr>
          <a:xfrm>
            <a:off x="640080" y="1095375"/>
            <a:ext cx="6336665" cy="5347335"/>
          </a:xfrm>
          <a:prstGeom prst="roundRect">
            <a:avLst>
              <a:gd name="adj" fmla="val 4137"/>
            </a:avLst>
          </a:prstGeom>
          <a:solidFill>
            <a:srgbClr val="ECF4FB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48588" name="文本框 13"/>
          <p:cNvSpPr txBox="1"/>
          <p:nvPr/>
        </p:nvSpPr>
        <p:spPr>
          <a:xfrm>
            <a:off x="236855" y="222250"/>
            <a:ext cx="893191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总结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0" y="682625"/>
            <a:ext cx="2577465" cy="76200"/>
          </a:xfrm>
          <a:prstGeom prst="parallelogram">
            <a:avLst>
              <a:gd name="adj" fmla="val 80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7420" y="1294765"/>
            <a:ext cx="572262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量子力学提醒我们，观察者无法与被观察的系统分离。在朋友圈中，你既是被观测的“粒子”，也是知晓被注视、主动调整表达的“观测者”本身。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的你，就像电子处于多种可能性的叠加态：时而热情时而冷漠，时而精致时而随性。当你进入朋友圈这个“测量装置”，你的自我波函数便会坍缩为一个确定的形象。这个坍缩后的版本是真实你的一部分，但绝非全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被注视的你，只是真实自我在特定条件下呈现的一个本征态。真实的你，始终大于朋友圈里的那个投影。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520305" y="1189990"/>
            <a:ext cx="4271645" cy="196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09193" y="3429318"/>
            <a:ext cx="4490720" cy="2983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8EC629E-8DEA-4C3D-8B15-BEE892BCF927}" type="slidenum">
              <a:rPr lang="zh-CN" altLang="en-US" smtClean="0"/>
            </a:fld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77" y="21939"/>
            <a:ext cx="2153246" cy="787160"/>
          </a:xfrm>
          <a:prstGeom prst="rect">
            <a:avLst/>
          </a:prstGeom>
        </p:spPr>
      </p:pic>
      <p:grpSp>
        <p:nvGrpSpPr>
          <p:cNvPr id="26" name="组合 6"/>
          <p:cNvGrpSpPr/>
          <p:nvPr/>
        </p:nvGrpSpPr>
        <p:grpSpPr>
          <a:xfrm>
            <a:off x="0" y="902335"/>
            <a:ext cx="12191365" cy="5216525"/>
            <a:chOff x="-1" y="1609725"/>
            <a:chExt cx="12192002" cy="4243803"/>
          </a:xfrm>
        </p:grpSpPr>
        <p:pic>
          <p:nvPicPr>
            <p:cNvPr id="2097152" name="Picture 3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2767" r="7205" b="57679"/>
            <a:stretch>
              <a:fillRect/>
            </a:stretch>
          </p:blipFill>
          <p:spPr bwMode="auto">
            <a:xfrm rot="10800000">
              <a:off x="-1" y="5218330"/>
              <a:ext cx="12192001" cy="635198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586" name="矩形 9"/>
            <p:cNvSpPr/>
            <p:nvPr/>
          </p:nvSpPr>
          <p:spPr>
            <a:xfrm>
              <a:off x="-1" y="1609725"/>
              <a:ext cx="12192002" cy="3655405"/>
            </a:xfrm>
            <a:prstGeom prst="rect">
              <a:avLst/>
            </a:prstGeom>
            <a:solidFill>
              <a:srgbClr val="F7FDF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16230"/>
              <a:endParaRPr lang="zh-CN" altLang="en-US" sz="1245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平行四边形 14"/>
          <p:cNvSpPr/>
          <p:nvPr/>
        </p:nvSpPr>
        <p:spPr>
          <a:xfrm>
            <a:off x="76" y="902055"/>
            <a:ext cx="4959457" cy="108489"/>
          </a:xfrm>
          <a:prstGeom prst="parallelogram">
            <a:avLst>
              <a:gd name="adj" fmla="val 805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7232510" y="5395823"/>
            <a:ext cx="4959457" cy="108489"/>
          </a:xfrm>
          <a:prstGeom prst="parallelogram">
            <a:avLst>
              <a:gd name="adj" fmla="val 805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50565" y="2322195"/>
            <a:ext cx="584390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6600" b="1">
                <a:solidFill>
                  <a:schemeClr val="accent1">
                    <a:lumMod val="50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感谢聆听！</a:t>
            </a:r>
            <a:endParaRPr lang="zh-CN" altLang="en-US" sz="6600" b="1">
              <a:solidFill>
                <a:schemeClr val="accent1">
                  <a:lumMod val="50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48589" name="文本框 25"/>
          <p:cNvSpPr txBox="1"/>
          <p:nvPr/>
        </p:nvSpPr>
        <p:spPr>
          <a:xfrm>
            <a:off x="2715260" y="4079240"/>
            <a:ext cx="6265545" cy="177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</a:t>
            </a:r>
            <a:endParaRPr lang="zh-CN" altLang="en-US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日期：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2026.04.30</a:t>
            </a:r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66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.95,&quot;left&quot;:60,&quot;top&quot;:196.5,&quot;width&quot;:840}"/>
</p:tagLst>
</file>

<file path=ppt/tags/tag2.xml><?xml version="1.0" encoding="utf-8"?>
<p:tagLst xmlns:p="http://schemas.openxmlformats.org/presentationml/2006/main">
  <p:tag name="KSO_WM_DIAGRAM_VIRTUALLY_FRAME" val="{&quot;height&quot;:306.95,&quot;left&quot;:60,&quot;top&quot;:196.5,&quot;width&quot;:840}"/>
</p:tagLst>
</file>

<file path=ppt/tags/tag3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4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5.xml><?xml version="1.0" encoding="utf-8"?>
<p:tagLst xmlns:p="http://schemas.openxmlformats.org/presentationml/2006/main">
  <p:tag name="KSO_WM_DIAGRAM_VIRTUALLY_FRAME" val="{&quot;height&quot;:381.05,&quot;left&quot;:60,&quot;top&quot;:118.95,&quot;width&quot;:840}"/>
</p:tagLst>
</file>

<file path=ppt/tags/tag6.xml><?xml version="1.0" encoding="utf-8"?>
<p:tagLst xmlns:p="http://schemas.openxmlformats.org/presentationml/2006/main">
  <p:tag name="KSO_WM_DIAGRAM_VIRTUALLY_FRAME" val="{&quot;height&quot;:381.05,&quot;left&quot;:60,&quot;top&quot;:118.95,&quot;width&quot;:840}"/>
</p:tagLst>
</file>

<file path=ppt/tags/tag7.xml><?xml version="1.0" encoding="utf-8"?>
<p:tagLst xmlns:p="http://schemas.openxmlformats.org/presentationml/2006/main">
  <p:tag name="KSO_WM_DIAGRAM_VIRTUALLY_FRAME" val="{&quot;height&quot;:360,&quot;left&quot;:60,&quot;top&quot;:140,&quot;width&quot;:855.3}"/>
</p:tagLst>
</file>

<file path=ppt/tags/tag8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9.xml><?xml version="1.0" encoding="utf-8"?>
<p:tagLst xmlns:p="http://schemas.openxmlformats.org/presentationml/2006/main">
  <p:tag name="KSO_WM_DIAGRAM_VIRTUALLY_FRAME" val="{&quot;height&quot;:360,&quot;left&quot;:60,&quot;top&quot;:140,&quot;width&quot;:855.3}"/>
</p:tagLst>
</file>

<file path=ppt/tags/tag10.xml><?xml version="1.0" encoding="utf-8"?>
<p:tagLst xmlns:p="http://schemas.openxmlformats.org/presentationml/2006/main">
  <p:tag name="KSO_WM_DIAGRAM_VIRTUALLY_FRAME" val="{&quot;height&quot;:381.05,&quot;left&quot;:60,&quot;top&quot;:118.95,&quot;width&quot;:840}"/>
</p:tagLst>
</file>

<file path=ppt/tags/tag11.xml><?xml version="1.0" encoding="utf-8"?>
<p:tagLst xmlns:p="http://schemas.openxmlformats.org/presentationml/2006/main">
  <p:tag name="KSO_WM_DIAGRAM_VIRTUALLY_FRAME" val="{&quot;height&quot;:381.05,&quot;left&quot;:60,&quot;top&quot;:118.95,&quot;width&quot;:840}"/>
</p:tagLst>
</file>

<file path=ppt/tags/tag12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13.xml><?xml version="1.0" encoding="utf-8"?>
<p:tagLst xmlns:p="http://schemas.openxmlformats.org/presentationml/2006/main">
  <p:tag name="KSO_WM_DIAGRAM_VIRTUALLY_FRAME" val="{&quot;height&quot;:360,&quot;left&quot;:60,&quot;top&quot;:140,&quot;width&quot;:855.3}"/>
</p:tagLst>
</file>

<file path=ppt/tags/tag14.xml><?xml version="1.0" encoding="utf-8"?>
<p:tagLst xmlns:p="http://schemas.openxmlformats.org/presentationml/2006/main">
  <p:tag name="KSO_WM_DIAGRAM_VIRTUALLY_FRAME" val="{&quot;height&quot;:360,&quot;left&quot;:60,&quot;top&quot;:140,&quot;width&quot;:855.3}"/>
</p:tagLst>
</file>

<file path=ppt/tags/tag15.xml><?xml version="1.0" encoding="utf-8"?>
<p:tagLst xmlns:p="http://schemas.openxmlformats.org/presentationml/2006/main">
  <p:tag name="KSO_WM_DIAGRAM_VIRTUALLY_FRAME" val="{&quot;height&quot;:306.95,&quot;left&quot;:60,&quot;top&quot;:196.5,&quot;width&quot;:840}"/>
</p:tagLst>
</file>

<file path=ppt/tags/tag16.xml><?xml version="1.0" encoding="utf-8"?>
<p:tagLst xmlns:p="http://schemas.openxmlformats.org/presentationml/2006/main">
  <p:tag name="COMMONDATA" val="eyJoZGlkIjoiNDI1NGQ4MDY4NjMxYWVlMzc3ODM2NDE0MmU1ODUxYzYifQ=="/>
  <p:tag name="commondata" val="eyJoZGlkIjoiN2ViN2M3MDNlZGRiNjQwZjhmNzhmZGNkNzY4NzYwMG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WPS 演示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华文楷体</vt:lpstr>
      <vt:lpstr>Times New Roman</vt:lpstr>
      <vt:lpstr>汉仪雅酷黑-85J</vt:lpstr>
      <vt:lpstr>黑体</vt:lpstr>
      <vt:lpstr>仿宋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陌&amp;千歌</cp:lastModifiedBy>
  <cp:revision>207</cp:revision>
  <dcterms:created xsi:type="dcterms:W3CDTF">2024-02-29T12:43:00Z</dcterms:created>
  <dcterms:modified xsi:type="dcterms:W3CDTF">2026-04-29T15:45:19Z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3D5FA53BE5754E3086456EDA098170BA_13</vt:lpwstr>
  </property>
  <property fmtid="{D5CDD505-2E9C-101B-9397-08002B2CF9AE}" pid="3" name="KSOProductBuildVer">
    <vt:lpwstr>2052-12.1.0.25865</vt:lpwstr>
  </property>
</Properties>
</file>