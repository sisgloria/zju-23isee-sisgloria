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3" r:id="rId3"/>
    <p:sldId id="257" r:id="rId4"/>
    <p:sldId id="258" r:id="rId6"/>
    <p:sldId id="274" r:id="rId7"/>
    <p:sldId id="260" r:id="rId8"/>
    <p:sldId id="261" r:id="rId9"/>
    <p:sldId id="262" r:id="rId10"/>
    <p:sldId id="275" r:id="rId11"/>
    <p:sldId id="276" r:id="rId12"/>
    <p:sldId id="270" r:id="rId13"/>
    <p:sldId id="271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87CD"/>
    <a:srgbClr val="FFFCF1"/>
    <a:srgbClr val="C00000"/>
    <a:srgbClr val="F7F6F6"/>
    <a:srgbClr val="D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本页建立全场结构：先讲故事，再做诊断，最后给实战建议。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强调项目失败不是一瞬间发生的，而是范围、时间、成本的连锁反应。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强调项目失败不是一瞬间发生的，而是范围、时间、成本的连锁反应。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按照时间线讲：冲突不是最后才出现的，而是在早期就已经出现，只是没有被管理层果断处理。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本页要讲出冲突本质：这不是价格字段的小问题，而是ERP标准化流程和企业旧制度的冲突。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指出关键决策：Lidl选择让系统迁就旧流程。ERP项目往往不是把旧习惯搬进新系统，而是用系统推动流程标准化。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指出关键决策：Lidl选择让系统迁就旧流程。ERP项目往往不是把旧习惯搬进新系统，而是用系统推动流程标准化。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结尾总结：项目经理要做边界管理、干系人协调和风险暴露，不只是执行上级命令。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21" y="1122363"/>
            <a:ext cx="91435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21" y="3602038"/>
            <a:ext cx="91435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156" y="6356350"/>
            <a:ext cx="2743057" cy="365125"/>
          </a:xfrm>
        </p:spPr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390" y="6356350"/>
            <a:ext cx="411458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152" y="6356350"/>
            <a:ext cx="2743057" cy="365125"/>
          </a:xfrm>
        </p:spPr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.jpe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image" Target="../media/image1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tags" Target="../tags/tag33.xml"/><Relationship Id="rId2" Type="http://schemas.openxmlformats.org/officeDocument/2006/relationships/image" Target="../media/image1.png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image" Target="../media/image7.png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.png"/><Relationship Id="rId12" Type="http://schemas.openxmlformats.org/officeDocument/2006/relationships/image" Target="../media/image9.webp"/><Relationship Id="rId11" Type="http://schemas.openxmlformats.org/officeDocument/2006/relationships/image" Target="../media/image8.png"/><Relationship Id="rId10" Type="http://schemas.openxmlformats.org/officeDocument/2006/relationships/tags" Target="../tags/tag44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1.png"/><Relationship Id="rId14" Type="http://schemas.openxmlformats.org/officeDocument/2006/relationships/image" Target="../media/image10.jpeg"/><Relationship Id="rId13" Type="http://schemas.openxmlformats.org/officeDocument/2006/relationships/image" Target="../media/image1.png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04" y="234489"/>
            <a:ext cx="3377188" cy="93810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1761569"/>
            <a:ext cx="12191365" cy="370122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28184" y="1495871"/>
            <a:ext cx="4959199" cy="108483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620733" y="5772891"/>
            <a:ext cx="4959199" cy="108483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68922" y="5049068"/>
            <a:ext cx="290941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bg1"/>
                </a:solidFill>
              </a:rPr>
              <a:t>第</a:t>
            </a:r>
            <a:r>
              <a:rPr lang="en-US" altLang="zh-CN" sz="2000" b="1" dirty="0">
                <a:solidFill>
                  <a:schemeClr val="bg1"/>
                </a:solidFill>
              </a:rPr>
              <a:t>9</a:t>
            </a:r>
            <a:r>
              <a:rPr lang="zh-CN" altLang="en-US" sz="2000" b="1" dirty="0">
                <a:solidFill>
                  <a:schemeClr val="bg1"/>
                </a:solidFill>
              </a:rPr>
              <a:t>小组 </a:t>
            </a:r>
            <a:r>
              <a:rPr lang="en-US" altLang="zh-CN" sz="2000" b="1" dirty="0">
                <a:solidFill>
                  <a:schemeClr val="bg1"/>
                </a:solidFill>
                <a:latin typeface="BatangChe" panose="02030609000101010101" pitchFamily="49" charset="-127"/>
                <a:ea typeface="BatangChe" panose="02030609000101010101" pitchFamily="49" charset="-127"/>
              </a:rPr>
              <a:t>|</a:t>
            </a:r>
            <a:r>
              <a:rPr lang="en-US" altLang="zh-CN" sz="2000" b="1" dirty="0">
                <a:solidFill>
                  <a:schemeClr val="bg1"/>
                </a:solidFill>
              </a:rPr>
              <a:t> 2026.6.17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694555" y="3542862"/>
            <a:ext cx="4802255" cy="5628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496" tIns="63496" rIns="63496" bIns="63496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599146"/>
            <a:ext cx="12191365" cy="8889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 Lidl 的 SAP 系统升级失败看项目管理的生死局</a:t>
            </a:r>
            <a:endParaRPr lang="en-US" sz="2400" b="1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81400" y="2444115"/>
            <a:ext cx="5029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ctr">
              <a:lnSpc>
                <a:spcPct val="125000"/>
              </a:lnSpc>
              <a:buClrTx/>
              <a:buSzTx/>
              <a:buFontTx/>
              <a:buNone/>
              <a:defRPr/>
            </a:pPr>
            <a:r>
              <a:rPr lang="en-US" sz="4800" b="1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5亿欧元的教训</a:t>
            </a:r>
            <a:endParaRPr lang="en-US" sz="4800" b="1" dirty="0" err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4" grpId="0" bldLvl="0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422901" y="138253"/>
            <a:ext cx="225459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4000" b="1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  录</a:t>
            </a:r>
            <a:endParaRPr lang="en-US" sz="4000" b="1" dirty="0" err="1">
              <a:solidFill>
                <a:srgbClr val="0C34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35" name="组合 34"/>
          <p:cNvGrpSpPr/>
          <p:nvPr>
            <p:custDataLst>
              <p:tags r:id="rId2"/>
            </p:custDataLst>
          </p:nvPr>
        </p:nvGrpSpPr>
        <p:grpSpPr>
          <a:xfrm>
            <a:off x="5932524" y="1222386"/>
            <a:ext cx="5801508" cy="715464"/>
            <a:chOff x="5399714" y="1392038"/>
            <a:chExt cx="6395056" cy="788662"/>
          </a:xfrm>
        </p:grpSpPr>
        <p:grpSp>
          <p:nvGrpSpPr>
            <p:cNvPr id="36" name="组合 35"/>
            <p:cNvGrpSpPr/>
            <p:nvPr/>
          </p:nvGrpSpPr>
          <p:grpSpPr>
            <a:xfrm>
              <a:off x="5399714" y="1392038"/>
              <a:ext cx="770179" cy="788662"/>
              <a:chOff x="5399714" y="1392038"/>
              <a:chExt cx="770179" cy="788662"/>
            </a:xfrm>
          </p:grpSpPr>
          <p:sp>
            <p:nvSpPr>
              <p:cNvPr id="37" name="矩形: 对角圆角 19"/>
              <p:cNvSpPr/>
              <p:nvPr>
                <p:custDataLst>
                  <p:tags r:id="rId3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473607" y="1392038"/>
                <a:ext cx="696286" cy="779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1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9" name="文本框 38"/>
            <p:cNvSpPr txBox="1"/>
            <p:nvPr>
              <p:custDataLst>
                <p:tags r:id="rId5"/>
              </p:custDataLst>
            </p:nvPr>
          </p:nvSpPr>
          <p:spPr>
            <a:xfrm>
              <a:off x="6346090" y="1534369"/>
              <a:ext cx="5448680" cy="6096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>
                <a:lnSpc>
                  <a:spcPct val="125000"/>
                </a:lnSpc>
                <a:buClrTx/>
                <a:buSzTx/>
                <a:buFontTx/>
                <a:buNone/>
                <a:defRPr/>
              </a:pPr>
              <a:r>
                <a:rPr lang="zh-CN" altLang="en-US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引入</a:t>
              </a:r>
              <a:r>
                <a:rPr lang="en-US" altLang="zh-CN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--</a:t>
              </a:r>
              <a:r>
                <a:rPr lang="en-US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项目管理的蝴蝶效应</a:t>
              </a:r>
              <a:endParaRPr lang="en-US" sz="2400" b="1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5944870" y="2099310"/>
            <a:ext cx="6129655" cy="727954"/>
            <a:chOff x="5399714" y="1378270"/>
            <a:chExt cx="6468388" cy="802430"/>
          </a:xfrm>
        </p:grpSpPr>
        <p:grpSp>
          <p:nvGrpSpPr>
            <p:cNvPr id="41" name="组合 40"/>
            <p:cNvGrpSpPr/>
            <p:nvPr/>
          </p:nvGrpSpPr>
          <p:grpSpPr>
            <a:xfrm>
              <a:off x="5399714" y="1378270"/>
              <a:ext cx="765025" cy="802430"/>
              <a:chOff x="5399714" y="1378270"/>
              <a:chExt cx="765025" cy="802430"/>
            </a:xfrm>
          </p:grpSpPr>
          <p:sp>
            <p:nvSpPr>
              <p:cNvPr id="42" name="矩形: 对角圆角 24"/>
              <p:cNvSpPr/>
              <p:nvPr>
                <p:custDataLst>
                  <p:tags r:id="rId7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3" name="文本框 4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68453" y="1378270"/>
                <a:ext cx="696286" cy="77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2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4" name="文本框 43"/>
            <p:cNvSpPr txBox="1"/>
            <p:nvPr>
              <p:custDataLst>
                <p:tags r:id="rId9"/>
              </p:custDataLst>
            </p:nvPr>
          </p:nvSpPr>
          <p:spPr>
            <a:xfrm>
              <a:off x="6293615" y="1534362"/>
              <a:ext cx="5574487" cy="60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>
                <a:lnSpc>
                  <a:spcPct val="125000"/>
                </a:lnSpc>
                <a:buClrTx/>
                <a:buSzTx/>
                <a:buFontTx/>
                <a:buNone/>
                <a:defRPr/>
              </a:pPr>
              <a:r>
                <a:rPr lang="zh-CN" altLang="en-US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真实案例 </a:t>
              </a:r>
              <a:r>
                <a:rPr lang="zh-CN" altLang="en-US" sz="2400" b="1" dirty="0" err="1">
                  <a:solidFill>
                    <a:srgbClr val="0C3468"/>
                  </a:solidFill>
                  <a:latin typeface="Arial" panose="020B0604020202020204" pitchFamily="34" charset="0"/>
                  <a:ea typeface="Noto Sans SC" panose="020B0200000000000000" charset="-122"/>
                  <a:cs typeface="Arial" panose="020B0604020202020204" pitchFamily="34" charset="0"/>
                  <a:sym typeface="+mn-ea"/>
                </a:rPr>
                <a:t>—— </a:t>
              </a:r>
              <a:r>
                <a:rPr lang="en-US" altLang="zh-CN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Lidl</a:t>
              </a:r>
              <a:r>
                <a:rPr lang="zh-CN" altLang="en-US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的“大跃进”惨案</a:t>
              </a:r>
              <a:endParaRPr lang="zh-CN" altLang="en-US" sz="2400" b="1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10"/>
            </p:custDataLst>
          </p:nvPr>
        </p:nvGrpSpPr>
        <p:grpSpPr>
          <a:xfrm>
            <a:off x="5892979" y="3130321"/>
            <a:ext cx="6084570" cy="727954"/>
            <a:chOff x="5399714" y="1378270"/>
            <a:chExt cx="6707077" cy="802430"/>
          </a:xfrm>
        </p:grpSpPr>
        <p:grpSp>
          <p:nvGrpSpPr>
            <p:cNvPr id="51" name="组合 50"/>
            <p:cNvGrpSpPr/>
            <p:nvPr/>
          </p:nvGrpSpPr>
          <p:grpSpPr>
            <a:xfrm>
              <a:off x="5399714" y="1378270"/>
              <a:ext cx="765025" cy="802430"/>
              <a:chOff x="5399714" y="1378270"/>
              <a:chExt cx="765025" cy="802430"/>
            </a:xfrm>
          </p:grpSpPr>
          <p:sp>
            <p:nvSpPr>
              <p:cNvPr id="52" name="矩形: 对角圆角 24"/>
              <p:cNvSpPr/>
              <p:nvPr>
                <p:custDataLst>
                  <p:tags r:id="rId11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3" name="文本框 5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468453" y="1378270"/>
                <a:ext cx="696286" cy="779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3</a:t>
                </a:r>
                <a:endParaRPr lang="en-US" altLang="zh-CN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4" name="文本框 53"/>
            <p:cNvSpPr txBox="1"/>
            <p:nvPr>
              <p:custDataLst>
                <p:tags r:id="rId13"/>
              </p:custDataLst>
            </p:nvPr>
          </p:nvSpPr>
          <p:spPr>
            <a:xfrm>
              <a:off x="6389466" y="1534362"/>
              <a:ext cx="5717325" cy="60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>
                <a:lnSpc>
                  <a:spcPct val="125000"/>
                </a:lnSpc>
                <a:buClrTx/>
                <a:buSzTx/>
                <a:buFontTx/>
                <a:buNone/>
                <a:defRPr/>
              </a:pPr>
              <a:r>
                <a:rPr lang="zh-CN" altLang="en-US" sz="2400" b="1" dirty="0" err="1">
                  <a:solidFill>
                    <a:srgbClr val="0C3468"/>
                  </a:solidFill>
                  <a:latin typeface="Arial" panose="020B0604020202020204" pitchFamily="34" charset="0"/>
                  <a:ea typeface="Noto Sans SC" panose="020B0200000000000000" charset="-122"/>
                  <a:cs typeface="Arial" panose="020B0604020202020204" pitchFamily="34" charset="0"/>
                  <a:sym typeface="+mn-ea"/>
                </a:rPr>
                <a:t>原因分析 </a:t>
              </a:r>
              <a:endParaRPr lang="zh-CN" altLang="en-US" sz="2400" b="1" dirty="0" err="1">
                <a:solidFill>
                  <a:srgbClr val="0C3468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14"/>
            </p:custDataLst>
          </p:nvPr>
        </p:nvGrpSpPr>
        <p:grpSpPr>
          <a:xfrm>
            <a:off x="5877800" y="4177312"/>
            <a:ext cx="5120640" cy="715464"/>
            <a:chOff x="5399714" y="1392038"/>
            <a:chExt cx="5644529" cy="788662"/>
          </a:xfrm>
        </p:grpSpPr>
        <p:grpSp>
          <p:nvGrpSpPr>
            <p:cNvPr id="57" name="组合 56"/>
            <p:cNvGrpSpPr/>
            <p:nvPr/>
          </p:nvGrpSpPr>
          <p:grpSpPr>
            <a:xfrm>
              <a:off x="5399714" y="1392038"/>
              <a:ext cx="770179" cy="788662"/>
              <a:chOff x="5399714" y="1392038"/>
              <a:chExt cx="770179" cy="788662"/>
            </a:xfrm>
          </p:grpSpPr>
          <p:sp>
            <p:nvSpPr>
              <p:cNvPr id="58" name="矩形: 对角圆角 35"/>
              <p:cNvSpPr/>
              <p:nvPr>
                <p:custDataLst>
                  <p:tags r:id="rId15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9" name="文本框 5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473607" y="1392038"/>
                <a:ext cx="696286" cy="779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4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0" name="文本框 59"/>
            <p:cNvSpPr txBox="1"/>
            <p:nvPr>
              <p:custDataLst>
                <p:tags r:id="rId17"/>
              </p:custDataLst>
            </p:nvPr>
          </p:nvSpPr>
          <p:spPr>
            <a:xfrm>
              <a:off x="6407666" y="1534131"/>
              <a:ext cx="4636577" cy="609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>
                <a:lnSpc>
                  <a:spcPct val="125000"/>
                </a:lnSpc>
                <a:buClrTx/>
                <a:buSzTx/>
                <a:buFontTx/>
                <a:buNone/>
                <a:defRPr/>
              </a:pPr>
              <a:r>
                <a:rPr lang="zh-CN" altLang="en-US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建议</a:t>
              </a:r>
              <a:r>
                <a:rPr lang="en-US" altLang="zh-CN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 </a:t>
              </a:r>
              <a:r>
                <a:rPr lang="zh-CN" altLang="en-US" sz="2400" b="1" dirty="0" err="1">
                  <a:solidFill>
                    <a:srgbClr val="0C3468"/>
                  </a:solidFill>
                  <a:latin typeface="Arial" panose="020B0604020202020204" pitchFamily="34" charset="0"/>
                  <a:ea typeface="Noto Sans SC" panose="020B0200000000000000" charset="-122"/>
                  <a:cs typeface="Arial" panose="020B0604020202020204" pitchFamily="34" charset="0"/>
                  <a:sym typeface="+mn-ea"/>
                </a:rPr>
                <a:t>——</a:t>
              </a:r>
              <a:r>
                <a:rPr lang="en-US" altLang="zh-CN" sz="2400" b="1" dirty="0" err="1">
                  <a:solidFill>
                    <a:srgbClr val="0C3468"/>
                  </a:solidFill>
                  <a:latin typeface="Arial" panose="020B0604020202020204" pitchFamily="34" charset="0"/>
                  <a:ea typeface="Noto Sans SC" panose="020B0200000000000000" charset="-122"/>
                  <a:cs typeface="Arial" panose="020B0604020202020204" pitchFamily="34" charset="0"/>
                  <a:sym typeface="+mn-ea"/>
                </a:rPr>
                <a:t> </a:t>
              </a:r>
              <a:r>
                <a:rPr lang="zh-CN" altLang="en-US" sz="2400" b="1" dirty="0" err="1">
                  <a:solidFill>
                    <a:srgbClr val="0C3468"/>
                  </a:solidFill>
                  <a:latin typeface="Arial" panose="020B0604020202020204" pitchFamily="34" charset="0"/>
                  <a:ea typeface="Noto Sans SC" panose="020B0200000000000000" charset="-122"/>
                  <a:cs typeface="Arial" panose="020B0604020202020204" pitchFamily="34" charset="0"/>
                  <a:sym typeface="+mn-ea"/>
                </a:rPr>
                <a:t>如何避免重蹈覆辙</a:t>
              </a:r>
              <a:endParaRPr lang="zh-CN" altLang="en-US" sz="2400" b="1" dirty="0" err="1">
                <a:solidFill>
                  <a:srgbClr val="0C3468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61" name="组合 60"/>
          <p:cNvGrpSpPr/>
          <p:nvPr>
            <p:custDataLst>
              <p:tags r:id="rId18"/>
            </p:custDataLst>
          </p:nvPr>
        </p:nvGrpSpPr>
        <p:grpSpPr>
          <a:xfrm>
            <a:off x="5877800" y="5211583"/>
            <a:ext cx="5120350" cy="715464"/>
            <a:chOff x="5399714" y="1392038"/>
            <a:chExt cx="5644209" cy="788662"/>
          </a:xfrm>
        </p:grpSpPr>
        <p:grpSp>
          <p:nvGrpSpPr>
            <p:cNvPr id="62" name="组合 61"/>
            <p:cNvGrpSpPr/>
            <p:nvPr/>
          </p:nvGrpSpPr>
          <p:grpSpPr>
            <a:xfrm>
              <a:off x="5399714" y="1392038"/>
              <a:ext cx="770179" cy="788662"/>
              <a:chOff x="5399714" y="1392038"/>
              <a:chExt cx="770179" cy="788662"/>
            </a:xfrm>
          </p:grpSpPr>
          <p:sp>
            <p:nvSpPr>
              <p:cNvPr id="63" name="矩形: 对角圆角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473607" y="1392038"/>
                <a:ext cx="696286" cy="779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5</a:t>
                </a:r>
                <a:endParaRPr lang="en-US" altLang="zh-CN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5" name="文本框 64"/>
            <p:cNvSpPr txBox="1"/>
            <p:nvPr>
              <p:custDataLst>
                <p:tags r:id="rId21"/>
              </p:custDataLst>
            </p:nvPr>
          </p:nvSpPr>
          <p:spPr>
            <a:xfrm>
              <a:off x="6346088" y="1534369"/>
              <a:ext cx="4697835" cy="507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>
                <a:buClrTx/>
                <a:buSzTx/>
                <a:buFontTx/>
                <a:buNone/>
              </a:pPr>
              <a:r>
                <a:rPr lang="en-US" sz="2400" b="1" dirty="0" err="1">
                  <a:solidFill>
                    <a:srgbClr val="0C346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总结</a:t>
              </a:r>
              <a:endParaRPr lang="zh-CN" altLang="en-US" sz="2400" b="1" dirty="0">
                <a:solidFill>
                  <a:srgbClr val="05233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endParaRPr>
            </a:p>
          </p:txBody>
        </p:sp>
      </p:grpSp>
      <p:pic>
        <p:nvPicPr>
          <p:cNvPr id="66" name="图片 65"/>
          <p:cNvPicPr/>
          <p:nvPr/>
        </p:nvPicPr>
        <p:blipFill>
          <a:blip r:embed="rId22"/>
          <a:srcRect l="11776" r="12661"/>
          <a:stretch>
            <a:fillRect/>
          </a:stretch>
        </p:blipFill>
        <p:spPr>
          <a:xfrm>
            <a:off x="0" y="0"/>
            <a:ext cx="5330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/>
          <p:cNvSpPr/>
          <p:nvPr/>
        </p:nvSpPr>
        <p:spPr>
          <a:xfrm>
            <a:off x="255905" y="1307465"/>
            <a:ext cx="6835775" cy="5236210"/>
          </a:xfrm>
          <a:prstGeom prst="roundRect">
            <a:avLst>
              <a:gd name="adj" fmla="val 8364"/>
            </a:avLst>
          </a:prstGeom>
          <a:solidFill>
            <a:srgbClr val="F3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6"/>
          <p:cNvSpPr/>
          <p:nvPr/>
        </p:nvSpPr>
        <p:spPr>
          <a:xfrm>
            <a:off x="5094605" y="1453515"/>
            <a:ext cx="1702435" cy="1201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solidFill>
              <a:srgbClr val="0C346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6"/>
          <p:cNvSpPr/>
          <p:nvPr/>
        </p:nvSpPr>
        <p:spPr>
          <a:xfrm>
            <a:off x="2555240" y="1453515"/>
            <a:ext cx="2261235" cy="1201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solidFill>
              <a:srgbClr val="0C346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6"/>
          <p:cNvSpPr/>
          <p:nvPr/>
        </p:nvSpPr>
        <p:spPr>
          <a:xfrm>
            <a:off x="430530" y="1453515"/>
            <a:ext cx="1762760" cy="1201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solidFill>
              <a:srgbClr val="0C346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" name="Text 0"/>
          <p:cNvSpPr/>
          <p:nvPr/>
        </p:nvSpPr>
        <p:spPr>
          <a:xfrm>
            <a:off x="320040" y="1686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 引入--项目管理的“蝴蝶效应”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850138"/>
            <a:ext cx="10058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Noto Sans SC" panose="020B0200000000000000" charset="-122"/>
              </a:rPr>
              <a:t>一个看似技术层面的选择，可能放大为时间、成本与组织信任的灾难。</a:t>
            </a:r>
            <a:endParaRPr lang="en-US" sz="18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167" y="692277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694055" y="1659890"/>
            <a:ext cx="2103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7年</a:t>
            </a:r>
            <a:endParaRPr lang="en-US" sz="34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602615" y="225425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项目周期被拖长</a:t>
            </a:r>
            <a:endParaRPr lang="en-US" sz="1400" b="1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2818130" y="1659890"/>
            <a:ext cx="2103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46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5亿欧元</a:t>
            </a:r>
            <a:endParaRPr lang="en-US" sz="3400" b="1" dirty="0">
              <a:solidFill>
                <a:srgbClr val="E646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3117215" y="2254250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投入成本沉没</a:t>
            </a:r>
            <a:endParaRPr lang="en-US" sz="1400" b="1" dirty="0">
              <a:solidFill>
                <a:srgbClr val="6B728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5403215" y="1659890"/>
            <a:ext cx="2103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30年</a:t>
            </a:r>
            <a:endParaRPr lang="en-US" sz="34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5177790" y="2254250"/>
            <a:ext cx="241998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最终退回旧系统</a:t>
            </a:r>
            <a:endParaRPr lang="en-US" sz="1400" b="1" dirty="0">
              <a:solidFill>
                <a:srgbClr val="6B728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914650"/>
            <a:ext cx="5674995" cy="1021715"/>
          </a:xfrm>
          <a:prstGeom prst="rect">
            <a:avLst/>
          </a:prstGeom>
          <a:solidFill>
            <a:srgbClr val="EAF4FF"/>
          </a:solidFill>
          <a:ln w="12700">
            <a:solidFill>
              <a:srgbClr val="0E6FB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011297"/>
            <a:ext cx="4846320" cy="8229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indent="0" algn="l" fontAlgn="auto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Noto Sans SC" panose="020B0200000000000000" charset="-122"/>
              </a:rPr>
              <a:t>项目管理从来不只是画甘特图、催进度；</a:t>
            </a:r>
            <a:endParaRPr lang="en-US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Noto Sans SC" panose="020B0200000000000000" charset="-122"/>
              </a:rPr>
              <a:t>它是企业的风险控制中枢和战略落地保障。</a:t>
            </a:r>
            <a:endParaRPr lang="en-US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: 圆角 17"/>
          <p:cNvSpPr/>
          <p:nvPr/>
        </p:nvSpPr>
        <p:spPr>
          <a:xfrm>
            <a:off x="517525" y="4229735"/>
            <a:ext cx="5868670" cy="2097405"/>
          </a:xfrm>
          <a:prstGeom prst="round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71525" y="4448175"/>
            <a:ext cx="53606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 err="1">
                <a:solidFill>
                  <a:srgbClr val="FD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我们可以借助经典模型来理解其本质：</a:t>
            </a:r>
            <a:endParaRPr lang="en-US" altLang="zh-CN" b="1" dirty="0" err="1">
              <a:solidFill>
                <a:srgbClr val="FD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b="1" dirty="0" err="1">
                <a:solidFill>
                  <a:srgbClr val="FD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项目铁三角：范围、时间、成本</a:t>
            </a:r>
            <a:endParaRPr lang="en-US" altLang="zh-CN" b="1" dirty="0" err="1">
              <a:solidFill>
                <a:srgbClr val="FD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b="1" dirty="0" err="1">
                <a:solidFill>
                  <a:srgbClr val="FD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核心锚点：质量与业务价值</a:t>
            </a:r>
            <a:endParaRPr lang="en-US" altLang="zh-CN" b="1" dirty="0" err="1">
              <a:solidFill>
                <a:srgbClr val="FD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 err="1">
                <a:solidFill>
                  <a:srgbClr val="FD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一旦三者失衡，项目就可能在不知不觉中走向深渊。</a:t>
            </a:r>
            <a:endParaRPr lang="en-US" altLang="zh-CN" b="1" dirty="0" err="1">
              <a:solidFill>
                <a:srgbClr val="FD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7775" y="1034415"/>
            <a:ext cx="3968115" cy="5067935"/>
          </a:xfrm>
          <a:prstGeom prst="rect">
            <a:avLst/>
          </a:prstGeom>
        </p:spPr>
      </p:pic>
      <p:sp>
        <p:nvSpPr>
          <p:cNvPr id="19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utoShape 4"/>
          <p:cNvSpPr/>
          <p:nvPr/>
        </p:nvSpPr>
        <p:spPr>
          <a:xfrm>
            <a:off x="636270" y="4282440"/>
            <a:ext cx="8871585" cy="208153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" name="Text 0"/>
          <p:cNvSpPr/>
          <p:nvPr/>
        </p:nvSpPr>
        <p:spPr>
          <a:xfrm>
            <a:off x="320040" y="1686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真实案例 —— </a:t>
            </a:r>
            <a:r>
              <a:rPr lang="en-US" altLang="zh-CN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Lidl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的“大跃进”惨案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738505" y="889000"/>
            <a:ext cx="348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安全与福祉优先原则的背离</a:t>
            </a:r>
            <a:endParaRPr lang="en-US" b="1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剪去单角的矩形 45"/>
          <p:cNvSpPr/>
          <p:nvPr>
            <p:custDataLst>
              <p:tags r:id="rId2"/>
            </p:custDataLst>
          </p:nvPr>
        </p:nvSpPr>
        <p:spPr>
          <a:xfrm flipV="1">
            <a:off x="509270" y="828040"/>
            <a:ext cx="5062855" cy="56642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594360" y="889000"/>
            <a:ext cx="5011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案例背景：雄心勃勃的“</a:t>
            </a:r>
            <a:r>
              <a:rPr lang="en-US" altLang="zh-CN" sz="2000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Elwis”</a:t>
            </a:r>
            <a:r>
              <a:rPr lang="zh-CN" altLang="en-US" sz="2000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</a:t>
            </a:r>
            <a:endParaRPr lang="zh-CN" altLang="en-US" sz="2000" b="1" dirty="0" err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Text 8"/>
          <p:cNvSpPr/>
          <p:nvPr>
            <p:custDataLst>
              <p:tags r:id="rId4"/>
            </p:custDataLst>
          </p:nvPr>
        </p:nvSpPr>
        <p:spPr>
          <a:xfrm>
            <a:off x="636905" y="1464945"/>
            <a:ext cx="10536555" cy="48145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 algn="l" fontAlgn="auto" latinLnBrk="1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a typeface="Noto Sans SC" panose="020B0200000000000000" charset="-122"/>
                <a:cs typeface="Noto Sans SC" panose="020B0200000000000000" charset="-122"/>
              </a:rPr>
              <a:t>主角：</a:t>
            </a: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欧洲最大的零售商之一，Lidl（历德）</a:t>
            </a:r>
            <a:r>
              <a:rPr lang="zh-CN" alt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。Lidl（历德）作为欧洲规模最大、扩张最快的折扣零售商之一，业务遍布 30 多个国家，拥有超过 12000 家门店和 140 余个物流中心</a:t>
            </a:r>
            <a:endParaRPr lang="zh-CN" altLang="en-US" sz="18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 fontAlgn="auto" latinLnBrk="1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a typeface="Noto Sans SC" panose="020B0200000000000000" charset="-122"/>
                <a:cs typeface="Noto Sans SC" panose="020B0200000000000000" charset="-122"/>
              </a:rPr>
              <a:t>起因：</a:t>
            </a:r>
            <a:r>
              <a:rPr lang="zh-CN" alt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2011年，随着 Lidl 的全球扩张加速、门店数量激增、供应链复杂度指数级上升。Lidl发现使用了30年的</a:t>
            </a: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老库存系统</a:t>
            </a:r>
            <a:r>
              <a:rPr lang="en-US" altLang="zh-CN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Wawi</a:t>
            </a: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无法支撑未来的扩张计划</a:t>
            </a:r>
            <a:r>
              <a:rPr lang="zh-CN" alt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。</a:t>
            </a:r>
            <a:endParaRPr lang="en-US" sz="1800" b="1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a typeface="Noto Sans SC" panose="020B0200000000000000" charset="-122"/>
                <a:cs typeface="Noto Sans SC" panose="020B0200000000000000" charset="-122"/>
              </a:rPr>
              <a:t>目标：</a:t>
            </a:r>
            <a:r>
              <a:rPr 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引入全球顶级的SAP系统，</a:t>
            </a:r>
            <a:r>
              <a:rPr lang="zh-CN" alt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搭建一套统一、集成、可扩展的进销存管理平台，实现从采购、仓储、物流到门店销售的全链路数字化管理，</a:t>
            </a:r>
            <a:r>
              <a:rPr lang="en-US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代号“Elwis”</a:t>
            </a:r>
            <a:r>
              <a:rPr lang="zh-CN" alt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；</a:t>
            </a:r>
            <a:endParaRPr lang="zh-CN" altLang="en-US" sz="18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a typeface="Noto Sans SC" panose="020B0200000000000000" charset="-122"/>
                <a:cs typeface="Noto Sans SC" panose="020B0200000000000000" charset="-122"/>
              </a:rPr>
              <a:t>  项目启动时的 “完美开局”：</a:t>
            </a:r>
            <a:endParaRPr lang="en-US" sz="1800" b="1" dirty="0">
              <a:solidFill>
                <a:schemeClr val="accent1">
                  <a:lumMod val="75000"/>
                </a:schemeClr>
              </a:solidFill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不差钱：</a:t>
            </a:r>
            <a:r>
              <a:rPr 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Lidl 为项目预留了充足的预算</a:t>
            </a:r>
            <a:endParaRPr lang="en-US" sz="18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顶级供应商：</a:t>
            </a:r>
            <a:r>
              <a:rPr 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选择了零售行业 ERP 领域的标杆企业 SAP</a:t>
            </a:r>
            <a:endParaRPr lang="en-US" sz="18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marL="0"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en-US" sz="1800" b="1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高层全力支持：</a:t>
            </a:r>
            <a:r>
              <a:rPr lang="en-US" sz="18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项目被视为公司的战略级转型工程，拥有最高优先级和资源倾斜。</a:t>
            </a:r>
            <a:endParaRPr lang="en-US" sz="18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4701540"/>
            <a:ext cx="1243965" cy="124396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sp>
        <p:nvSpPr>
          <p:cNvPr id="3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17"/>
          <p:cNvSpPr/>
          <p:nvPr/>
        </p:nvSpPr>
        <p:spPr>
          <a:xfrm>
            <a:off x="1779270" y="6022340"/>
            <a:ext cx="8279765" cy="485775"/>
          </a:xfrm>
          <a:prstGeom prst="round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44575" y="3543300"/>
            <a:ext cx="10241280" cy="0"/>
          </a:xfrm>
          <a:prstGeom prst="line">
            <a:avLst/>
          </a:prstGeom>
          <a:noFill/>
          <a:ln w="38100">
            <a:solidFill>
              <a:srgbClr val="0E6F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17143" y="3424428"/>
            <a:ext cx="237744" cy="237744"/>
          </a:xfrm>
          <a:prstGeom prst="ellipse">
            <a:avLst/>
          </a:prstGeom>
          <a:solidFill>
            <a:srgbClr val="0E6FB8"/>
          </a:solidFill>
          <a:ln w="12700">
            <a:solidFill>
              <a:srgbClr val="0E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555" y="2967355"/>
            <a:ext cx="822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2011</a:t>
            </a:r>
            <a:endParaRPr lang="en-US" sz="16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8630" y="3863340"/>
            <a:ext cx="2120265" cy="129921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0E6FB8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D0D8E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7555" y="4018915"/>
            <a:ext cx="227266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6F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 Elwis</a:t>
            </a:r>
            <a:endParaRPr lang="en-US" b="1" dirty="0">
              <a:solidFill>
                <a:srgbClr val="0E6F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1190" y="4273550"/>
            <a:ext cx="189484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老系统难以支撑扩张，决定引入 SAP</a:t>
            </a:r>
            <a:endParaRPr lang="zh-CN" altLang="en-US" sz="16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48863" y="3424428"/>
            <a:ext cx="237744" cy="237744"/>
          </a:xfrm>
          <a:prstGeom prst="ellipse">
            <a:avLst/>
          </a:prstGeom>
          <a:solidFill>
            <a:srgbClr val="0E6FB8"/>
          </a:solidFill>
          <a:ln w="12700">
            <a:solidFill>
              <a:srgbClr val="0E6F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9270" y="1645920"/>
            <a:ext cx="3584575" cy="165227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0E6FB8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D0D8E8">
                <a:alpha val="1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866898" y="1795907"/>
            <a:ext cx="13807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b="1" dirty="0">
                <a:solidFill>
                  <a:srgbClr val="0E6F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起步期冲突</a:t>
            </a:r>
            <a:endParaRPr lang="en-US" b="1" dirty="0">
              <a:solidFill>
                <a:srgbClr val="0E6F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68805" y="2070100"/>
            <a:ext cx="3524250" cy="1402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30000"/>
              </a:lnSpc>
              <a:buNone/>
            </a:pP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SAP系统的标准流程是用“零售价”管理库存，而Lidl坚持用自己的老规矩</a:t>
            </a:r>
            <a:r>
              <a:rPr lang="en-US" altLang="zh-CN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“</a:t>
            </a: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  <a:sym typeface="+mn-ea"/>
              </a:rPr>
              <a:t>进货价</a:t>
            </a:r>
            <a:r>
              <a:rPr lang="en-US" altLang="zh-CN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”</a:t>
            </a: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管理库存</a:t>
            </a:r>
            <a:r>
              <a:rPr lang="zh-CN" altLang="en-US" sz="1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80583" y="3424428"/>
            <a:ext cx="237744" cy="237744"/>
          </a:xfrm>
          <a:prstGeom prst="ellipse">
            <a:avLst/>
          </a:prstGeom>
          <a:solidFill>
            <a:srgbClr val="0E6FB8"/>
          </a:solidFill>
          <a:ln w="12700">
            <a:solidFill>
              <a:srgbClr val="0E6F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7835" y="2967355"/>
            <a:ext cx="822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中期</a:t>
            </a:r>
            <a:endParaRPr lang="en-US" sz="16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33825" y="3862705"/>
            <a:ext cx="3740150" cy="184086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0E6FB8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D0D8E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91000" y="4027805"/>
            <a:ext cx="298958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b="1" dirty="0">
                <a:solidFill>
                  <a:srgbClr val="0E6F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疯狂的决定：</a:t>
            </a:r>
            <a:r>
              <a:rPr lang="en-US" b="1" dirty="0">
                <a:solidFill>
                  <a:srgbClr val="0E6F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强行定制</a:t>
            </a:r>
            <a:endParaRPr lang="en-US" b="1" dirty="0">
              <a:solidFill>
                <a:srgbClr val="0E6F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54805" y="4262755"/>
            <a:ext cx="3510915" cy="1752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Lidl拒绝改变自己的业务流程，而是要求SAP强行修改系统底层代码，以适应Lidl的老习惯。底层代码需大量修改，项目范围不断膨胀。</a:t>
            </a:r>
            <a:endParaRPr lang="zh-CN" altLang="en-US" sz="16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12303" y="3424428"/>
            <a:ext cx="237744" cy="237744"/>
          </a:xfrm>
          <a:prstGeom prst="ellipse">
            <a:avLst/>
          </a:prstGeom>
          <a:solidFill>
            <a:srgbClr val="0E6FB8"/>
          </a:solidFill>
          <a:ln w="12700">
            <a:solidFill>
              <a:srgbClr val="0E6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9695" y="2948305"/>
            <a:ext cx="822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后期</a:t>
            </a:r>
            <a:endParaRPr lang="en-US" sz="16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64300" y="1508760"/>
            <a:ext cx="4110355" cy="1778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0E6FB8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D0D8E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2303" y="1625092"/>
            <a:ext cx="13807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E6FB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全面失控</a:t>
            </a:r>
            <a:endParaRPr lang="en-US" b="1" dirty="0">
              <a:solidFill>
                <a:srgbClr val="0E6FB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4785" y="1880870"/>
            <a:ext cx="4046855" cy="1342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系统被改得面目全非，性能极差，关联模块全部报错。项目不断延期，成本直线上升。高管频繁大换血，多任项目Sponsor更替，战略方向不断摇摆。</a:t>
            </a:r>
            <a:endParaRPr lang="zh-CN" altLang="en-US" sz="16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344023" y="3424428"/>
            <a:ext cx="237744" cy="237744"/>
          </a:xfrm>
          <a:prstGeom prst="ellipse">
            <a:avLst/>
          </a:prstGeom>
          <a:solidFill>
            <a:srgbClr val="E64646"/>
          </a:solidFill>
          <a:ln w="12700">
            <a:solidFill>
              <a:srgbClr val="E646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66095" y="3072765"/>
            <a:ext cx="822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464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2018</a:t>
            </a:r>
            <a:endParaRPr lang="en-US" sz="1600" b="1" dirty="0">
              <a:solidFill>
                <a:srgbClr val="E6464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081770" y="3863340"/>
            <a:ext cx="2600325" cy="184785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64646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D0D8E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795383" y="4027932"/>
            <a:ext cx="138074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464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项目取消</a:t>
            </a:r>
            <a:endParaRPr lang="en-US" b="1" dirty="0">
              <a:solidFill>
                <a:srgbClr val="E6464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59240" y="4272915"/>
            <a:ext cx="2479040" cy="1599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历时7年，耗资5亿欧元后，Lidl突然宣布：项目彻底取消，全公司退回30年前的老系统。</a:t>
            </a:r>
            <a:endParaRPr lang="zh-CN" altLang="en-US" sz="16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26820" y="6101715"/>
            <a:ext cx="9875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如果把第1年或第2年当作“试点验证期”，项目很可能更早暴露不可行性。</a:t>
            </a:r>
            <a:endParaRPr 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0"/>
          <p:cNvSpPr/>
          <p:nvPr/>
        </p:nvSpPr>
        <p:spPr>
          <a:xfrm>
            <a:off x="320040" y="1686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真实案例 —— </a:t>
            </a:r>
            <a:r>
              <a:rPr lang="en-US" altLang="zh-CN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Lidl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的“大跃进”惨案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sp>
        <p:nvSpPr>
          <p:cNvPr id="34" name="Text 16"/>
          <p:cNvSpPr/>
          <p:nvPr/>
        </p:nvSpPr>
        <p:spPr>
          <a:xfrm>
            <a:off x="3195955" y="3757930"/>
            <a:ext cx="822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早</a:t>
            </a:r>
            <a:r>
              <a:rPr 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期</a:t>
            </a:r>
            <a:endParaRPr lang="en-US" sz="16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7857490" y="3863340"/>
            <a:ext cx="76390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后</a:t>
            </a:r>
            <a:r>
              <a:rPr lang="en-US" sz="16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期</a:t>
            </a:r>
            <a:endParaRPr lang="en-US" sz="16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6" name="剪去单角的矩形 45"/>
          <p:cNvSpPr/>
          <p:nvPr>
            <p:custDataLst>
              <p:tags r:id="rId1"/>
            </p:custDataLst>
          </p:nvPr>
        </p:nvSpPr>
        <p:spPr>
          <a:xfrm flipV="1">
            <a:off x="509270" y="828040"/>
            <a:ext cx="4613910" cy="566420"/>
          </a:xfrm>
          <a:prstGeom prst="snip1Rect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Text 0"/>
          <p:cNvSpPr/>
          <p:nvPr/>
        </p:nvSpPr>
        <p:spPr>
          <a:xfrm>
            <a:off x="631190" y="93446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灾难的七年：2011 → 2018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017270" y="591693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600" b="1" dirty="0">
                <a:solidFill>
                  <a:srgbClr val="003F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endParaRPr lang="en-US" altLang="en-US" sz="3600" b="1" dirty="0">
              <a:solidFill>
                <a:srgbClr val="003F8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7"/>
          <p:cNvSpPr/>
          <p:nvPr/>
        </p:nvSpPr>
        <p:spPr>
          <a:xfrm>
            <a:off x="786765" y="3981450"/>
            <a:ext cx="10800715" cy="2562860"/>
          </a:xfrm>
          <a:prstGeom prst="roundRect">
            <a:avLst/>
          </a:prstGeom>
          <a:solidFill>
            <a:srgbClr val="F7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815" y="82778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dirty="0" err="1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核心冲突：SAP 标准流程 vs Lidl 旧习惯</a:t>
            </a:r>
            <a:endParaRPr lang="zh-CN" altLang="en-US" sz="2000" b="1" dirty="0" err="1">
              <a:solidFill>
                <a:srgbClr val="C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6892" y="828040"/>
            <a:ext cx="109728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6280" y="1530350"/>
            <a:ext cx="4673600" cy="2312035"/>
          </a:xfrm>
          <a:prstGeom prst="roundRect">
            <a:avLst>
              <a:gd name="adj" fmla="val 5479"/>
            </a:avLst>
          </a:prstGeom>
          <a:solidFill>
            <a:srgbClr val="EAF4FF"/>
          </a:solidFill>
          <a:ln w="12700">
            <a:solidFill>
              <a:srgbClr val="0E6F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1885" y="1615440"/>
            <a:ext cx="2446655" cy="306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SAP 标准做法</a:t>
            </a:r>
            <a:endParaRPr lang="en-US" sz="23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1885" y="2005965"/>
            <a:ext cx="4352925" cy="5600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按“零售价”管理库存</a:t>
            </a:r>
            <a:endParaRPr lang="en-US" sz="2600" b="1" dirty="0">
              <a:solidFill>
                <a:srgbClr val="05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1885" y="2479675"/>
            <a:ext cx="3629025" cy="1203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系统流程更标准化
• 便于与其他模块协同
• 但要求业务改变习惯</a:t>
            </a:r>
            <a:endParaRPr lang="en-US" sz="16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4190" y="1487170"/>
            <a:ext cx="4523105" cy="2374900"/>
          </a:xfrm>
          <a:prstGeom prst="roundRect">
            <a:avLst>
              <a:gd name="adj" fmla="val 5479"/>
            </a:avLst>
          </a:prstGeom>
          <a:solidFill>
            <a:srgbClr val="FFECEC"/>
          </a:solidFill>
          <a:ln w="12700">
            <a:solidFill>
              <a:srgbClr val="E646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9790" y="1615440"/>
            <a:ext cx="2446655" cy="3067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646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Lidl 旧规则</a:t>
            </a:r>
            <a:endParaRPr lang="en-US" sz="2300" b="1" dirty="0">
              <a:solidFill>
                <a:srgbClr val="E646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65340" y="2096770"/>
            <a:ext cx="4035425" cy="382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按“进货价”管理库存</a:t>
            </a:r>
            <a:endParaRPr lang="en-US" sz="2600" b="1" dirty="0">
              <a:solidFill>
                <a:srgbClr val="05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34580" y="2557780"/>
            <a:ext cx="2753995" cy="842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15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符合既有业务习惯
• 减少组织变革阻力
• 但会放大技术定制成本</a:t>
            </a:r>
            <a:endParaRPr lang="en-US" sz="15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47055" y="2567940"/>
            <a:ext cx="992505" cy="382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VS</a:t>
            </a:r>
            <a:endParaRPr lang="en-US" sz="28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4022852"/>
            <a:ext cx="7498080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05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真正的问题不是“用哪种价格”，而是谁愿意改变：系统、流程，还是人？</a:t>
            </a:r>
            <a:endParaRPr lang="en-US" sz="1600" b="1" i="1" dirty="0">
              <a:solidFill>
                <a:srgbClr val="05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sp>
        <p:nvSpPr>
          <p:cNvPr id="5" name="Text 0"/>
          <p:cNvSpPr/>
          <p:nvPr/>
        </p:nvSpPr>
        <p:spPr>
          <a:xfrm>
            <a:off x="320040" y="1686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真实案例 —— </a:t>
            </a:r>
            <a:r>
              <a:rPr lang="en-US" altLang="zh-CN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Lidl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的“大跃进”惨案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9485" y="4406900"/>
            <a:ext cx="10627995" cy="286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 latinLnBrk="1">
              <a:lnSpc>
                <a:spcPct val="120000"/>
              </a:lnSpc>
              <a:spcBef>
                <a:spcPts val="800"/>
              </a:spcBef>
              <a:buClrTx/>
              <a:buSzTx/>
              <a:buFontTx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ea typeface="Noto Sans SC" panose="020B0200000000000000" charset="-122"/>
                <a:cs typeface="Noto Sans SC" panose="020B0200000000000000" charset="-122"/>
              </a:rPr>
              <a:t>如果选 SAP 标准流程（零售价）：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 fontAlgn="auto">
              <a:lnSpc>
                <a:spcPct val="120000"/>
              </a:lnSpc>
              <a:spcBef>
                <a:spcPts val="800"/>
              </a:spcBef>
              <a:buClrTx/>
              <a:buSzTx/>
              <a:buFontTx/>
            </a:pPr>
            <a:r>
              <a:rPr 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代价是人要改变—— 业务团队要放弃 30 年的工作习惯，重新学习系统、调整流程、改变考核方式，这会带来巨大的组织阻力。</a:t>
            </a:r>
            <a:endParaRPr lang="en-US" sz="16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 fontAlgn="auto" latinLnBrk="1">
              <a:lnSpc>
                <a:spcPct val="120000"/>
              </a:lnSpc>
              <a:spcBef>
                <a:spcPts val="800"/>
              </a:spcBef>
              <a:buClrTx/>
              <a:buSzTx/>
              <a:buFontTx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ea typeface="Noto Sans SC" panose="020B0200000000000000" charset="-122"/>
                <a:cs typeface="Noto Sans SC" panose="020B0200000000000000" charset="-122"/>
              </a:rPr>
              <a:t>如果迁就 Lidl 旧规则（进货价）：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 fontAlgn="auto">
              <a:lnSpc>
                <a:spcPct val="120000"/>
              </a:lnSpc>
              <a:spcBef>
                <a:spcPts val="800"/>
              </a:spcBef>
              <a:buClrTx/>
              <a:buSzTx/>
              <a:buFontTx/>
            </a:pPr>
            <a:r>
              <a:rPr lang="en-US" sz="1600" dirty="0">
                <a:solidFill>
                  <a:srgbClr val="1F2937"/>
                </a:solidFill>
                <a:ea typeface="Noto Sans SC" panose="020B0200000000000000" charset="-122"/>
                <a:cs typeface="Noto Sans SC" panose="020B0200000000000000" charset="-122"/>
              </a:rPr>
              <a:t>代价是系统要改变—— 需要对 SAP 进行大规模定制开发，破坏系统的标准化架构，带来高昂的开发成本、未来维护风险，甚至埋下系统不稳定的隐患。</a:t>
            </a:r>
            <a:endParaRPr lang="en-US" sz="1600" dirty="0">
              <a:solidFill>
                <a:srgbClr val="1F2937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2"/>
          <p:cNvSpPr/>
          <p:nvPr>
            <p:custDataLst>
              <p:tags r:id="rId1"/>
            </p:custDataLst>
          </p:nvPr>
        </p:nvSpPr>
        <p:spPr>
          <a:xfrm>
            <a:off x="1411605" y="5756910"/>
            <a:ext cx="4105275" cy="551815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64646">
                <a:alpha val="55000"/>
              </a:srgbClr>
            </a:solidFill>
            <a:prstDash val="solid"/>
          </a:ln>
          <a:effectLst>
            <a:outerShdw blurRad="12700" dist="50800" dir="2700000" algn="bl" rotWithShape="0">
              <a:srgbClr val="D0D8E8">
                <a:alpha val="15000"/>
              </a:srgbClr>
            </a:outerShdw>
          </a:effectLst>
        </p:spPr>
      </p:sp>
      <p:sp>
        <p:nvSpPr>
          <p:cNvPr id="43" name="AutoShape 4"/>
          <p:cNvSpPr/>
          <p:nvPr/>
        </p:nvSpPr>
        <p:spPr>
          <a:xfrm>
            <a:off x="636270" y="2483485"/>
            <a:ext cx="7373620" cy="2742565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Text 5"/>
          <p:cNvSpPr/>
          <p:nvPr/>
        </p:nvSpPr>
        <p:spPr>
          <a:xfrm>
            <a:off x="840740" y="1419860"/>
            <a:ext cx="10790555" cy="1005840"/>
          </a:xfrm>
          <a:prstGeom prst="rect">
            <a:avLst/>
          </a:prstGeom>
          <a:noFill/>
        </p:spPr>
        <p:txBody>
          <a:bodyPr wrap="square" rtlCol="0" anchor="ctr">
            <a:normAutofit fontScale="90000"/>
          </a:bodyPr>
          <a:lstStyle/>
          <a:p>
            <a:pPr indent="0" algn="l" fontAlgn="auto" latinLnBrk="1">
              <a:lnSpc>
                <a:spcPct val="14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当业务方强势提出：“我们不改流程，系统来适应我们。”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为了迁就旧习惯，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Lidl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在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Elwis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项目中对 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SAP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系统进行了大量底层代码的强行定制，这直接导致项目范围无限扩大，技术复杂度呈指数级上升，为后续的失败埋下了致命隐患。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92910" y="5828030"/>
            <a:ext cx="5029200" cy="3263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 latinLnBrk="1">
              <a:lnSpc>
                <a:spcPct val="14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本质：只改工具，不改习惯。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sp>
        <p:nvSpPr>
          <p:cNvPr id="5" name="Text 0"/>
          <p:cNvSpPr/>
          <p:nvPr/>
        </p:nvSpPr>
        <p:spPr>
          <a:xfrm>
            <a:off x="320040" y="1686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原因分析 —— 为什么会输得这么惨？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sp>
        <p:nvSpPr>
          <p:cNvPr id="21" name="剪去单角的矩形 45"/>
          <p:cNvSpPr/>
          <p:nvPr>
            <p:custDataLst>
              <p:tags r:id="rId3"/>
            </p:custDataLst>
          </p:nvPr>
        </p:nvSpPr>
        <p:spPr>
          <a:xfrm flipV="1">
            <a:off x="509270" y="828040"/>
            <a:ext cx="5062855" cy="56642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1375" y="911860"/>
            <a:ext cx="426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原因一、范围失控与“非标”执念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685800" y="2425700"/>
            <a:ext cx="7057390" cy="2917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l" fontAlgn="auto" latinLnBrk="1">
              <a:lnSpc>
                <a:spcPct val="15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• </a:t>
            </a:r>
            <a:r>
              <a:rPr lang="en-US" altLang="zh-CN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</a:t>
            </a: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项目启动时，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团队就没有建立清晰的需求边界和变更管控机制</a:t>
            </a: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，面对业务部门源源不断的 “个性化需求”，只能被动接受。</a:t>
            </a:r>
            <a:endParaRPr lang="zh-CN" altLang="en-US" sz="16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indent="0" algn="l" fontAlgn="auto" latinLnBrk="1">
              <a:lnSpc>
                <a:spcPct val="15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• </a:t>
            </a:r>
            <a:r>
              <a:rPr lang="en-US" altLang="zh-CN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</a:t>
            </a: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业务部门在决策中占据绝对强势地位，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IT 团队彻底沦为了 “执行机器”，完全失去了对项目风险的判断和话语权。</a:t>
            </a:r>
            <a:endParaRPr lang="zh-CN" altLang="en-US" sz="1600" b="1" dirty="0">
              <a:solidFill>
                <a:schemeClr val="accent1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indent="0" algn="l" fontAlgn="auto" latinLnBrk="1">
              <a:lnSpc>
                <a:spcPct val="15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• </a:t>
            </a:r>
            <a:r>
              <a:rPr lang="en-US" altLang="zh-CN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  </a:t>
            </a: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每一次看似微小的流程改动，都需要触及 SAP 的底层架构，牵一发而动全身，极易引发</a:t>
            </a: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跨模块的系统级连锁反应</a:t>
            </a:r>
            <a:r>
              <a:rPr lang="zh-CN" altLang="en-US" sz="1600" dirty="0">
                <a:solidFill>
                  <a:srgbClr val="1F2937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，严重拖慢了项目进度。</a:t>
            </a:r>
            <a:endParaRPr lang="zh-CN" altLang="en-US" sz="1600" dirty="0">
              <a:solidFill>
                <a:srgbClr val="1F2937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b="8023"/>
          <a:stretch>
            <a:fillRect/>
          </a:stretch>
        </p:blipFill>
        <p:spPr>
          <a:xfrm>
            <a:off x="8067040" y="2373630"/>
            <a:ext cx="3977005" cy="3742055"/>
          </a:xfrm>
          <a:prstGeom prst="rect">
            <a:avLst/>
          </a:prstGeom>
        </p:spPr>
      </p:pic>
      <p:sp>
        <p:nvSpPr>
          <p:cNvPr id="26" name="下箭头 25"/>
          <p:cNvSpPr/>
          <p:nvPr/>
        </p:nvSpPr>
        <p:spPr>
          <a:xfrm>
            <a:off x="2880995" y="5287645"/>
            <a:ext cx="318135" cy="40767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utoShape 4"/>
          <p:cNvSpPr/>
          <p:nvPr/>
        </p:nvSpPr>
        <p:spPr>
          <a:xfrm>
            <a:off x="695325" y="941070"/>
            <a:ext cx="10647045" cy="198374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Text 0"/>
          <p:cNvSpPr/>
          <p:nvPr/>
        </p:nvSpPr>
        <p:spPr>
          <a:xfrm>
            <a:off x="320040" y="16865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原因分析 —— 为什么会输得这么惨？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sp>
        <p:nvSpPr>
          <p:cNvPr id="21" name="剪去单角的矩形 45"/>
          <p:cNvSpPr/>
          <p:nvPr>
            <p:custDataLst>
              <p:tags r:id="rId2"/>
            </p:custDataLst>
          </p:nvPr>
        </p:nvSpPr>
        <p:spPr>
          <a:xfrm flipV="1">
            <a:off x="509270" y="828040"/>
            <a:ext cx="3848100" cy="56642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1375" y="911860"/>
            <a:ext cx="426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bg1"/>
                </a:solidFill>
              </a:rPr>
              <a:t>原因二、无视变革管理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2" name="剪去单角的矩形 45"/>
          <p:cNvSpPr/>
          <p:nvPr>
            <p:custDataLst>
              <p:tags r:id="rId3"/>
            </p:custDataLst>
          </p:nvPr>
        </p:nvSpPr>
        <p:spPr>
          <a:xfrm flipV="1">
            <a:off x="492760" y="3168650"/>
            <a:ext cx="4328795" cy="56642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4865" y="3252470"/>
            <a:ext cx="4261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</a:rPr>
              <a:t>原因三、</a:t>
            </a:r>
            <a:r>
              <a:rPr lang="zh-CN" altLang="en-US" sz="2000" b="1">
                <a:solidFill>
                  <a:schemeClr val="bg1"/>
                </a:solidFill>
                <a:sym typeface="+mn-ea"/>
              </a:rPr>
              <a:t>大爆炸式”交付风险</a:t>
            </a:r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67740" y="1546860"/>
            <a:ext cx="7507605" cy="107124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indent="0" algn="l" fontAlgn="auto" latinLnBrk="1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表层：</a:t>
            </a:r>
            <a:r>
              <a:rPr lang="zh-CN" altLang="en-US" sz="15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这是一个业务变革项目，却被当成了纯粹的</a:t>
            </a:r>
            <a:r>
              <a:rPr lang="en-US" altLang="zh-CN" sz="15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IT</a:t>
            </a:r>
            <a:r>
              <a:rPr lang="zh-CN" altLang="en-US" sz="15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项目。</a:t>
            </a:r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  <a:p>
            <a:pPr indent="0" algn="l" fontAlgn="auto" latinLnBrk="1">
              <a:lnSpc>
                <a:spcPct val="13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本质：</a:t>
            </a:r>
            <a:r>
              <a:rPr lang="zh-CN" altLang="en-US" sz="1500" dirty="0">
                <a:solidFill>
                  <a:schemeClr val="tx1"/>
                </a:solidFill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员工抵触新系统，高层不愿意推动业务流程的重组。当技术与旧制度发生冲突时，项目经理没有协调解决机制，也缺乏干系人管理。</a:t>
            </a:r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951865" y="3913505"/>
            <a:ext cx="4118610" cy="2574925"/>
          </a:xfrm>
          <a:prstGeom prst="rect">
            <a:avLst/>
          </a:prstGeom>
          <a:solidFill>
            <a:srgbClr val="FFFCF1"/>
          </a:solidFill>
          <a:ln w="12700" cmpd="sng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文本框 11"/>
          <p:cNvSpPr txBox="1"/>
          <p:nvPr/>
        </p:nvSpPr>
        <p:spPr>
          <a:xfrm>
            <a:off x="1240790" y="4008120"/>
            <a:ext cx="6096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2200" b="1" dirty="0">
                <a:solidFill>
                  <a:srgbClr val="E64646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Big Bang Delivery</a:t>
            </a:r>
            <a:endParaRPr lang="en-US" altLang="en-US" sz="2200" b="1" dirty="0">
              <a:solidFill>
                <a:srgbClr val="E64646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  <a:sym typeface="+mn-ea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115060" y="4468495"/>
            <a:ext cx="4480560" cy="2103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algn="l" latinLnBrk="1">
              <a:lnSpc>
                <a:spcPct val="14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• 试图一次性替换核心系统
• 七年“憋大招”，缺少阶段性验收
• 小问题被拖成系统性风险
• 失败发现得越晚，沉没成本越高</a:t>
            </a:r>
            <a:endParaRPr lang="zh-CN" altLang="en-US" sz="1700" dirty="0"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6564630" y="3913505"/>
            <a:ext cx="4599940" cy="2574925"/>
          </a:xfrm>
          <a:prstGeom prst="rect">
            <a:avLst/>
          </a:prstGeom>
          <a:solidFill>
            <a:srgbClr val="E9F7EF"/>
          </a:solidFill>
          <a:ln w="12700" cmpd="sng">
            <a:solidFill>
              <a:schemeClr val="accent6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5295900" y="4954270"/>
            <a:ext cx="10972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miter lim="800000"/>
            <a:tailEnd type="stealth" w="lg" len="lg"/>
          </a:ln>
        </p:spPr>
      </p:sp>
      <p:sp>
        <p:nvSpPr>
          <p:cNvPr id="17" name="Text 9"/>
          <p:cNvSpPr/>
          <p:nvPr/>
        </p:nvSpPr>
        <p:spPr>
          <a:xfrm>
            <a:off x="6938010" y="4078605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9A96B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替代思路</a:t>
            </a:r>
            <a:endParaRPr lang="en-US" sz="2200" b="1" dirty="0">
              <a:solidFill>
                <a:srgbClr val="39A96B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44665" y="4398645"/>
            <a:ext cx="3433445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latinLnBrk="1">
              <a:lnSpc>
                <a:spcPct val="140000"/>
              </a:lnSpc>
              <a:spcBef>
                <a:spcPts val="800"/>
              </a:spcBef>
              <a:buClrTx/>
              <a:buSzTx/>
              <a:buFontTx/>
            </a:pPr>
            <a:r>
              <a:rPr lang="zh-CN" altLang="en-US" sz="1700" b="1" dirty="0"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</a:rPr>
              <a:t>在项目前期做小范围试点</a:t>
            </a:r>
            <a:endParaRPr lang="zh-CN" altLang="en-US" sz="1700" b="1" dirty="0"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31635" y="4794885"/>
            <a:ext cx="6096000" cy="1189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 latinLnBrk="1">
              <a:lnSpc>
                <a:spcPct val="140000"/>
              </a:lnSpc>
              <a:spcBef>
                <a:spcPts val="800"/>
              </a:spcBef>
              <a:buClrTx/>
              <a:buSzTx/>
              <a:buFontTx/>
              <a:buNone/>
            </a:pPr>
            <a:r>
              <a:rPr lang="zh-CN" altLang="en-US" sz="1700" dirty="0">
                <a:latin typeface="Arial" panose="020B0604020202020204" pitchFamily="34" charset="0"/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• 先跑通核心流程
• 先选一个门店/业务单元
• 快速验证，再逐步扩展</a:t>
            </a:r>
            <a:endParaRPr lang="zh-CN" altLang="en-US" sz="1700" dirty="0">
              <a:latin typeface="Arial" panose="020B0604020202020204" pitchFamily="34" charset="0"/>
              <a:ea typeface="Noto Sans SC" panose="020B0200000000000000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828030" y="5977255"/>
            <a:ext cx="6319520" cy="594360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A9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 Fast 不是失败，是用小成本买确定性。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Image 0" descr="/mnt/data/a_wide_cinematic_corporate_meeting_scene_in_a_mod.png"/>
          <p:cNvPicPr>
            <a:picLocks noChangeAspect="1"/>
          </p:cNvPicPr>
          <p:nvPr/>
        </p:nvPicPr>
        <p:blipFill>
          <a:blip r:embed="rId4"/>
          <a:srcRect l="10000" r="19816"/>
          <a:stretch>
            <a:fillRect/>
          </a:stretch>
        </p:blipFill>
        <p:spPr>
          <a:xfrm>
            <a:off x="8841105" y="911860"/>
            <a:ext cx="2500630" cy="2005965"/>
          </a:xfrm>
          <a:prstGeom prst="rect">
            <a:avLst/>
          </a:prstGeom>
        </p:spPr>
      </p:pic>
      <p:sp>
        <p:nvSpPr>
          <p:cNvPr id="27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/>
        </p:nvSpPr>
        <p:spPr>
          <a:xfrm>
            <a:off x="445135" y="1155065"/>
            <a:ext cx="11301730" cy="5201920"/>
          </a:xfrm>
          <a:prstGeom prst="rect">
            <a:avLst/>
          </a:prstGeom>
          <a:solidFill>
            <a:srgbClr val="F3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utoShape 4"/>
          <p:cNvSpPr/>
          <p:nvPr>
            <p:custDataLst>
              <p:tags r:id="rId1"/>
            </p:custDataLst>
          </p:nvPr>
        </p:nvSpPr>
        <p:spPr>
          <a:xfrm>
            <a:off x="746760" y="1376045"/>
            <a:ext cx="3611245" cy="482790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7"/>
          <p:cNvSpPr/>
          <p:nvPr>
            <p:custDataLst>
              <p:tags r:id="rId2"/>
            </p:custDataLst>
          </p:nvPr>
        </p:nvSpPr>
        <p:spPr>
          <a:xfrm>
            <a:off x="4612640" y="1363345"/>
            <a:ext cx="3246120" cy="483997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6"/>
          <p:cNvSpPr/>
          <p:nvPr>
            <p:custDataLst>
              <p:tags r:id="rId3"/>
            </p:custDataLst>
          </p:nvPr>
        </p:nvSpPr>
        <p:spPr>
          <a:xfrm>
            <a:off x="984250" y="3497580"/>
            <a:ext cx="3264535" cy="2511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建立强有力的“需求变更审批墙”</a:t>
            </a:r>
            <a:endParaRPr lang="en-US" altLang="zh-CN" sz="1600" b="1" dirty="0" err="1">
              <a:solidFill>
                <a:srgbClr val="0A316C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35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工具：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CCB（变更控制委员会）机制</a:t>
            </a:r>
            <a:endParaRPr lang="en-US" altLang="zh-CN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35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落地做法：</a:t>
            </a:r>
            <a:endParaRPr lang="zh-CN" altLang="en-US" sz="1400" b="1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35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当业务方提出“我要加个定制功能”时，不要直接答应或拒绝。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35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拿出评估表：这个功能会增加 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X</a:t>
            </a: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天工时，增加 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Y</a:t>
            </a: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万成本，带来 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Z</a:t>
            </a: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级风险。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35000"/>
              </a:lnSpc>
              <a:spcBef>
                <a:spcPts val="0"/>
              </a:spcBef>
              <a:buClrTx/>
              <a:buSzTx/>
              <a:buFontTx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让业务方老板签字确认：“你愿意为这个变更承担进度延期的代价吗？”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9"/>
          <p:cNvSpPr/>
          <p:nvPr>
            <p:custDataLst>
              <p:tags r:id="rId4"/>
            </p:custDataLst>
          </p:nvPr>
        </p:nvSpPr>
        <p:spPr>
          <a:xfrm>
            <a:off x="4812030" y="3291205"/>
            <a:ext cx="3189605" cy="2675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干系人对齐</a:t>
            </a: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工具：</a:t>
            </a: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干系人地图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fontAlgn="auto">
              <a:lnSpc>
                <a:spcPct val="130000"/>
              </a:lnSpc>
              <a:spcBef>
                <a:spcPts val="1000"/>
              </a:spcBef>
              <a:defRPr/>
            </a:pPr>
            <a:r>
              <a:rPr lang="zh-CN" altLang="en-US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落地做法：</a:t>
            </a:r>
            <a:endParaRPr lang="zh-CN" altLang="en-US" sz="1400" b="1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fontAlgn="auto">
              <a:lnSpc>
                <a:spcPct val="135000"/>
              </a:lnSpc>
              <a:defRPr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权力大 + 利益高：重点管理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fontAlgn="auto">
              <a:lnSpc>
                <a:spcPct val="135000"/>
              </a:lnSpc>
              <a:defRPr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 权力大 + 利益低：保持满意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fontAlgn="auto">
              <a:lnSpc>
                <a:spcPct val="135000"/>
              </a:lnSpc>
              <a:defRPr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权力小 + 利益高：及时告知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fontAlgn="auto">
              <a:lnSpc>
                <a:spcPct val="135000"/>
              </a:lnSpc>
              <a:defRPr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权力小 + 利益低：定期监督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0"/>
          <p:cNvSpPr/>
          <p:nvPr>
            <p:custDataLst>
              <p:tags r:id="rId5"/>
            </p:custDataLst>
          </p:nvPr>
        </p:nvSpPr>
        <p:spPr>
          <a:xfrm>
            <a:off x="8112760" y="1402080"/>
            <a:ext cx="3546475" cy="480123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2"/>
          <p:cNvSpPr/>
          <p:nvPr>
            <p:custDataLst>
              <p:tags r:id="rId6"/>
            </p:custDataLst>
          </p:nvPr>
        </p:nvSpPr>
        <p:spPr>
          <a:xfrm>
            <a:off x="8267065" y="3497580"/>
            <a:ext cx="3361055" cy="2546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拆解风险</a:t>
            </a:r>
            <a:endParaRPr lang="en-US" altLang="zh-CN" sz="1600" b="1" dirty="0" err="1">
              <a:solidFill>
                <a:srgbClr val="0A316C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buClrTx/>
              <a:buSzTx/>
              <a:buFontTx/>
            </a:pPr>
            <a:r>
              <a:rPr lang="en-US" altLang="zh-CN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工具：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MVP（最小可行性产品）+ 敏捷迭代</a:t>
            </a:r>
            <a:endParaRPr lang="en-US" altLang="zh-CN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indent="0" algn="l" fontAlgn="auto">
              <a:lnSpc>
                <a:spcPct val="135000"/>
              </a:lnSpc>
              <a:spcBef>
                <a:spcPts val="1000"/>
              </a:spcBef>
              <a:buClrTx/>
              <a:buSzTx/>
              <a:buFontTx/>
            </a:pPr>
            <a:r>
              <a:rPr lang="zh-CN" altLang="en-US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落地做法：</a:t>
            </a:r>
            <a:endParaRPr lang="zh-CN" altLang="en-US" sz="1400" b="1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不要等所有功能都完美了才上线。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选一个阻力最小的边缘业务或单个门店，花1个月时间跑通核心流程。</a:t>
            </a:r>
            <a:endParaRPr lang="zh-CN" altLang="en-US" sz="1400" dirty="0" err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Fail Fast（</a:t>
            </a:r>
            <a:r>
              <a:rPr lang="zh-CN" altLang="en-US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快速试错）：用10万块钱和1个月的时间证明此路不通，就是为公司省下了几百万和几个月的成本。</a:t>
            </a:r>
            <a:endParaRPr lang="zh-CN" altLang="en-US" sz="14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sp>
        <p:nvSpPr>
          <p:cNvPr id="5" name="Text 0"/>
          <p:cNvSpPr/>
          <p:nvPr/>
        </p:nvSpPr>
        <p:spPr>
          <a:xfrm>
            <a:off x="320040" y="43408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建议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 如何避免重蹈覆辙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095" y="1503680"/>
            <a:ext cx="3317240" cy="190881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557440" y="59632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1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4358188" y="55187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2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8001456" y="55187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3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图片 7" descr="13fa22c2-e1b7-40b6-ab24-5dd3b04cb4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095" y="1610360"/>
            <a:ext cx="3011805" cy="1822450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12"/>
          <a:stretch>
            <a:fillRect/>
          </a:stretch>
        </p:blipFill>
        <p:spPr>
          <a:xfrm>
            <a:off x="4736465" y="1610360"/>
            <a:ext cx="2997835" cy="182816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sp>
        <p:nvSpPr>
          <p:cNvPr id="18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68350" y="916305"/>
            <a:ext cx="5845175" cy="1085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fontAlgn="auto">
              <a:lnSpc>
                <a:spcPct val="12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Lidl 花 5 亿欧元买到的教训：</a:t>
            </a:r>
            <a:endParaRPr 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3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技术的难题，最终都是人的问题。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项目管理核心在于沟通协调、平衡各方诉求。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701040" y="2159635"/>
            <a:ext cx="4846320" cy="1005840"/>
          </a:xfrm>
          <a:prstGeom prst="roundRect">
            <a:avLst>
              <a:gd name="adj" fmla="val 16364"/>
            </a:avLst>
          </a:prstGeom>
          <a:solidFill>
            <a:schemeClr val="accent1">
              <a:lumMod val="75000"/>
              <a:alpha val="85000"/>
            </a:scheme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975360" y="2324227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敬畏铁三角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975360" y="2689987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要加需求，就必须加时间或资源。</a:t>
            </a:r>
            <a:endParaRPr lang="en-US" sz="1600" dirty="0">
              <a:solidFill>
                <a:srgbClr val="DDEE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701040" y="4383405"/>
            <a:ext cx="4846320" cy="1005840"/>
          </a:xfrm>
          <a:prstGeom prst="roundRect">
            <a:avLst>
              <a:gd name="adj" fmla="val 16364"/>
            </a:avLst>
          </a:prstGeom>
          <a:solidFill>
            <a:schemeClr val="accent1">
              <a:lumMod val="75000"/>
              <a:alpha val="85000"/>
            </a:scheme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975360" y="4611497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管理期望值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975360" y="4977257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定期暴露风险，不要报喜不报忧。</a:t>
            </a:r>
            <a:endParaRPr lang="en-US" sz="1600" dirty="0">
              <a:solidFill>
                <a:srgbClr val="DDEE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701040" y="3272155"/>
            <a:ext cx="4846320" cy="1005840"/>
          </a:xfrm>
          <a:prstGeom prst="roundRect">
            <a:avLst>
              <a:gd name="adj" fmla="val 16364"/>
            </a:avLst>
          </a:prstGeom>
          <a:solidFill>
            <a:schemeClr val="accent1">
              <a:alpha val="85000"/>
            </a:scheme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975360" y="3436747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先跑通，再完美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75360" y="3802507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阶段性交付是抵御不确定性的最好武器。</a:t>
            </a:r>
            <a:endParaRPr lang="en-US" sz="1600" dirty="0">
              <a:solidFill>
                <a:srgbClr val="DDEE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10"/>
            </p:custDataLst>
          </p:nvPr>
        </p:nvSpPr>
        <p:spPr>
          <a:xfrm>
            <a:off x="701040" y="5521960"/>
            <a:ext cx="4846320" cy="1005840"/>
          </a:xfrm>
          <a:prstGeom prst="roundRect">
            <a:avLst>
              <a:gd name="adj" fmla="val 16364"/>
            </a:avLst>
          </a:prstGeom>
          <a:solidFill>
            <a:srgbClr val="6087CD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975360" y="568655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项目经理不是传声筒</a:t>
            </a:r>
            <a:endParaRPr 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2"/>
            </p:custDataLst>
          </p:nvPr>
        </p:nvSpPr>
        <p:spPr>
          <a:xfrm>
            <a:off x="975360" y="6052312"/>
            <a:ext cx="42062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而是能协调冲突、守住边界的“破壁人”。</a:t>
            </a:r>
            <a:endParaRPr lang="en-US" sz="1600" dirty="0">
              <a:solidFill>
                <a:srgbClr val="DDEE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256032" y="681482"/>
            <a:ext cx="11658600" cy="0"/>
          </a:xfrm>
          <a:prstGeom prst="line">
            <a:avLst/>
          </a:prstGeom>
          <a:noFill/>
          <a:ln w="25400">
            <a:solidFill>
              <a:srgbClr val="0E6FB8"/>
            </a:solidFill>
            <a:prstDash val="solid"/>
          </a:ln>
        </p:spPr>
      </p:sp>
      <p:sp>
        <p:nvSpPr>
          <p:cNvPr id="19" name="Text 0"/>
          <p:cNvSpPr/>
          <p:nvPr/>
        </p:nvSpPr>
        <p:spPr>
          <a:xfrm>
            <a:off x="364490" y="228346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05   </a:t>
            </a:r>
            <a:r>
              <a:rPr lang="zh-CN" alt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</a:t>
            </a:r>
            <a:endParaRPr lang="zh-CN" altLang="en-US" sz="2800" b="1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633" y="73178"/>
            <a:ext cx="2045209" cy="568113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4"/>
          <a:srcRect b="30095"/>
          <a:stretch>
            <a:fillRect/>
          </a:stretch>
        </p:blipFill>
        <p:spPr>
          <a:xfrm>
            <a:off x="6294755" y="937260"/>
            <a:ext cx="5158105" cy="1574165"/>
          </a:xfrm>
          <a:prstGeom prst="rect">
            <a:avLst/>
          </a:prstGeom>
          <a:ln w="28575" cmpd="sng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4755" y="2751455"/>
            <a:ext cx="5190490" cy="3480435"/>
          </a:xfrm>
          <a:prstGeom prst="rect">
            <a:avLst/>
          </a:prstGeom>
          <a:ln w="28575" cmpd="sng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25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8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279246"/>
            <a:ext cx="12191365" cy="22996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305343" y="1009496"/>
            <a:ext cx="4959199" cy="108483"/>
          </a:xfrm>
          <a:prstGeom prst="parallelogram">
            <a:avLst>
              <a:gd name="adj" fmla="val 80556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95010" y="3688294"/>
            <a:ext cx="4959199" cy="108483"/>
          </a:xfrm>
          <a:prstGeom prst="parallelogram">
            <a:avLst>
              <a:gd name="adj" fmla="val 80556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359910" y="1499235"/>
            <a:ext cx="3592195" cy="102616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sz="60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感谢聆听！</a:t>
            </a:r>
            <a:endParaRPr lang="en-US" altLang="zh-CN" sz="6000" b="1" spc="300" dirty="0">
              <a:solidFill>
                <a:srgbClr val="0B4E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45301" y="2906422"/>
            <a:ext cx="55127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B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汇报小组：第9小组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31036" y="4184611"/>
            <a:ext cx="5747086" cy="24714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sz="2000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组员分工与贡献比：</a:t>
            </a:r>
            <a:endParaRPr lang="zh-CN" altLang="en-US" sz="2000"/>
          </a:p>
          <a:p>
            <a:pPr algn="ctr">
              <a:lnSpc>
                <a:spcPct val="125000"/>
              </a:lnSpc>
              <a:spcBef>
                <a:spcPts val="800"/>
              </a:spcBef>
              <a:buClrTx/>
              <a:buSzTx/>
              <a:buFontTx/>
            </a:pP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王奕涵</a:t>
            </a: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整理材料、制作PPT    25％</a:t>
            </a:r>
            <a:endParaRPr lang="en-US" dirty="0" err="1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5000"/>
              </a:lnSpc>
              <a:spcBef>
                <a:spcPts val="800"/>
              </a:spcBef>
              <a:buClrTx/>
              <a:buSzTx/>
              <a:buFontTx/>
            </a:pP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胡昕妍</a:t>
            </a: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确定主题、搜集资料    25％</a:t>
            </a:r>
            <a:endParaRPr lang="en-US" dirty="0" err="1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5000"/>
              </a:lnSpc>
              <a:spcBef>
                <a:spcPts val="800"/>
              </a:spcBef>
              <a:buClrTx/>
              <a:buSzTx/>
              <a:buFontTx/>
            </a:pP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孙钰淳</a:t>
            </a: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整理材料、制作PPT    </a:t>
            </a: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25％</a:t>
            </a:r>
            <a:endParaRPr lang="en-US" dirty="0" err="1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25000"/>
              </a:lnSpc>
              <a:spcBef>
                <a:spcPts val="800"/>
              </a:spcBef>
              <a:buClrTx/>
              <a:buSzTx/>
              <a:buFontTx/>
            </a:pP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吴溪语</a:t>
            </a: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撰写汇报稿、汇报发言    </a:t>
            </a:r>
            <a:r>
              <a:rPr lang="en-US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25％</a:t>
            </a:r>
            <a:endParaRPr lang="en-US" dirty="0" err="1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ClrTx/>
              <a:buSzTx/>
              <a:buFontTx/>
            </a:pPr>
            <a:endParaRPr lang="en-US" altLang="zh-CN"/>
          </a:p>
        </p:txBody>
      </p:sp>
      <p:sp>
        <p:nvSpPr>
          <p:cNvPr id="4" name="灯片编号占位符 1"/>
          <p:cNvSpPr>
            <a:spLocks noGrp="1"/>
          </p:cNvSpPr>
          <p:nvPr/>
        </p:nvSpPr>
        <p:spPr>
          <a:xfrm>
            <a:off x="11246672" y="6263005"/>
            <a:ext cx="2743057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smtClean="0">
                <a:solidFill>
                  <a:schemeClr val="bg1">
                    <a:lumMod val="50000"/>
                  </a:schemeClr>
                </a:solidFill>
              </a:rPr>
              <a:t>9</a:t>
            </a:r>
            <a:endParaRPr lang="en-US" altLang="zh-CN" sz="160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2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3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4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5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6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7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8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9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0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1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2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3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4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5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6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7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8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19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20.xml><?xml version="1.0" encoding="utf-8"?>
<p:tagLst xmlns:p="http://schemas.openxmlformats.org/presentationml/2006/main">
  <p:tag name="KSO_WM_DIAGRAM_VIRTUALLY_FRAME" val="{&quot;height&quot;:371.1457480314969,&quot;left&quot;:462.81889763779526,&quot;top&quot;:96.25086614173226,&quot;width&quot;:487.93110236220474}"/>
</p:tagLst>
</file>

<file path=ppt/tags/tag21.xml><?xml version="1.0" encoding="utf-8"?>
<p:tagLst xmlns:p="http://schemas.openxmlformats.org/presentationml/2006/main">
  <p:tag name="KSO_WM_DIAGRAM_VIRTUALLY_FRAME" val="{&quot;height&quot;:66.96,&quot;left&quot;:44.8,&quot;top&quot;:104.85,&quot;width&quot;:550.8}"/>
</p:tagLst>
</file>

<file path=ppt/tags/tag22.xml><?xml version="1.0" encoding="utf-8"?>
<p:tagLst xmlns:p="http://schemas.openxmlformats.org/presentationml/2006/main">
  <p:tag name="KSO_WM_DIAGRAM_VIRTUALLY_FRAME" val="{&quot;height&quot;:66.96,&quot;left&quot;:44.8,&quot;top&quot;:104.85,&quot;width&quot;:550.8}"/>
</p:tagLst>
</file>

<file path=ppt/tags/tag23.xml><?xml version="1.0" encoding="utf-8"?>
<p:tagLst xmlns:p="http://schemas.openxmlformats.org/presentationml/2006/main">
  <p:tag name="KSO_WM_DIAGRAM_VIRTUALLY_FRAME" val="{&quot;height&quot;:66.96,&quot;left&quot;:44.8,&quot;top&quot;:104.85,&quot;width&quot;:550.8}"/>
</p:tagLst>
</file>

<file path=ppt/tags/tag24.xml><?xml version="1.0" encoding="utf-8"?>
<p:tagLst xmlns:p="http://schemas.openxmlformats.org/presentationml/2006/main">
  <p:tag name="KSO_WM_DIAGRAM_VIRTUALLY_FRAME" val="{&quot;height&quot;:66.96,&quot;left&quot;:44.8,&quot;top&quot;:104.85,&quot;width&quot;:550.8}"/>
</p:tagLst>
</file>

<file path=ppt/tags/tag25.xml><?xml version="1.0" encoding="utf-8"?>
<p:tagLst xmlns:p="http://schemas.openxmlformats.org/presentationml/2006/main">
  <p:tag name="KSO_WM_DIAGRAM_VIRTUALLY_FRAME" val="{&quot;height&quot;:66.96,&quot;left&quot;:44.8,&quot;top&quot;:104.85,&quot;width&quot;:550.8}"/>
</p:tagLst>
</file>

<file path=ppt/tags/tag26.xml><?xml version="1.0" encoding="utf-8"?>
<p:tagLst xmlns:p="http://schemas.openxmlformats.org/presentationml/2006/main">
  <p:tag name="KSO_WM_DIAGRAM_VIRTUALLY_FRAME" val="{&quot;height&quot;:66.96,&quot;left&quot;:44.8,&quot;top&quot;:104.85,&quot;width&quot;:550.8}"/>
</p:tagLst>
</file>

<file path=ppt/tags/tag27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28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29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30.xml><?xml version="1.0" encoding="utf-8"?>
<p:tagLst xmlns:p="http://schemas.openxmlformats.org/presentationml/2006/main">
  <p:tag name="KSO_WM_DIAGRAM_VIRTUALLY_FRAME" val="{&quot;height&quot;:318.25,&quot;left&quot;:39.2,&quot;top&quot;:126,&quot;width&quot;:840.45}"/>
</p:tagLst>
</file>

<file path=ppt/tags/tag31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32.xml><?xml version="1.0" encoding="utf-8"?>
<p:tagLst xmlns:p="http://schemas.openxmlformats.org/presentationml/2006/main">
  <p:tag name="KSO_WM_DIAGRAM_VIRTUALLY_FRAME" val="{&quot;height&quot;:293.49000000000007,&quot;left&quot;:464.4,&quot;top&quot;:118.8,&quot;width&quot;:421.2}"/>
</p:tagLst>
</file>

<file path=ppt/tags/tag33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34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35.xml><?xml version="1.0" encoding="utf-8"?>
<p:tagLst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36.xml><?xml version="1.0" encoding="utf-8"?>
<p:tagLst xmlns:p="http://schemas.openxmlformats.org/presentationml/2006/main">
  <p:tag name="KSO_WM_DIAGRAM_VIRTUALLY_FRAME" val="{&quot;height&quot;:327.55,&quot;left&quot;:64.8,&quot;top&quot;:145.6,&quot;width&quot;:840}"/>
</p:tagLst>
</file>

<file path=ppt/tags/tag37.xml><?xml version="1.0" encoding="utf-8"?>
<p:tagLst xmlns:p="http://schemas.openxmlformats.org/presentationml/2006/main">
  <p:tag name="KSO_WM_DIAGRAM_VIRTUALLY_FRAME" val="{&quot;height&quot;:382.1,&quot;left&quot;:64.8,&quot;top&quot;:107.35,&quot;width&quot;:856.6}"/>
</p:tagLst>
</file>

<file path=ppt/tags/tag38.xml><?xml version="1.0" encoding="utf-8"?>
<p:tagLst xmlns:p="http://schemas.openxmlformats.org/presentationml/2006/main">
  <p:tag name="KSO_WM_DIAGRAM_VIRTUALLY_FRAME" val="{&quot;height&quot;:327.55,&quot;left&quot;:64.8,&quot;top&quot;:145.6,&quot;width&quot;:840}"/>
</p:tagLst>
</file>

<file path=ppt/tags/tag39.xml><?xml version="1.0" encoding="utf-8"?>
<p:tagLst xmlns:p="http://schemas.openxmlformats.org/presentationml/2006/main">
  <p:tag name="KSO_WM_DIAGRAM_VIRTUALLY_FRAME" val="{&quot;height&quot;:382.1,&quot;left&quot;:64.8,&quot;top&quot;:107.35,&quot;width&quot;:856.6}"/>
</p:tagLst>
</file>

<file path=ppt/tags/tag40.xml><?xml version="1.0" encoding="utf-8"?>
<p:tagLst xmlns:p="http://schemas.openxmlformats.org/presentationml/2006/main">
  <p:tag name="KSO_WM_DIAGRAM_VIRTUALLY_FRAME" val="{&quot;height&quot;:382.1,&quot;left&quot;:64.8,&quot;top&quot;:107.35,&quot;width&quot;:856.6}"/>
</p:tagLst>
</file>

<file path=ppt/tags/tag41.xml><?xml version="1.0" encoding="utf-8"?>
<p:tagLst xmlns:p="http://schemas.openxmlformats.org/presentationml/2006/main">
  <p:tag name="KSO_WM_DIAGRAM_VIRTUALLY_FRAME" val="{&quot;height&quot;:382.1,&quot;left&quot;:64.8,&quot;top&quot;:107.35,&quot;width&quot;:856.6}"/>
</p:tagLst>
</file>

<file path=ppt/tags/tag42.xml><?xml version="1.0" encoding="utf-8"?>
<p:tagLst xmlns:p="http://schemas.openxmlformats.org/presentationml/2006/main">
  <p:tag name="KSO_WM_DIAGRAM_VIRTUALLY_FRAME" val="{&quot;height&quot;:399.39543307086615,&quot;left&quot;:58.8,&quot;top&quot;:73.75456692913386,&quot;width&quot;:846}"/>
</p:tagLst>
</file>

<file path=ppt/tags/tag43.xml><?xml version="1.0" encoding="utf-8"?>
<p:tagLst xmlns:p="http://schemas.openxmlformats.org/presentationml/2006/main">
  <p:tag name="KSO_WM_DIAGRAM_VIRTUALLY_FRAME" val="{&quot;height&quot;:399.39543307086615,&quot;left&quot;:58.8,&quot;top&quot;:73.75456692913386,&quot;width&quot;:846}"/>
</p:tagLst>
</file>

<file path=ppt/tags/tag44.xml><?xml version="1.0" encoding="utf-8"?>
<p:tagLst xmlns:p="http://schemas.openxmlformats.org/presentationml/2006/main">
  <p:tag name="KSO_WM_DIAGRAM_VIRTUALLY_FRAME" val="{&quot;height&quot;:399.39543307086615,&quot;left&quot;:58.8,&quot;top&quot;:73.75456692913386,&quot;width&quot;:846}"/>
</p:tagLst>
</file>

<file path=ppt/tags/tag45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46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47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48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49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0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1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2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3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4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5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ags/tag56.xml><?xml version="1.0" encoding="utf-8"?>
<p:tagLst xmlns:p="http://schemas.openxmlformats.org/presentationml/2006/main">
  <p:tag name="KSO_WM_DIAGRAM_VIRTUALLY_FRAME" val="{&quot;height&quot;:487.2,&quot;left&quot;:50.3,&quot;top&quot;:110.1,&quot;width&quot;:827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2700</Words>
  <Application>WPS 演示</Application>
  <PresentationFormat>On-screen Show (16:9)</PresentationFormat>
  <Paragraphs>247</Paragraphs>
  <Slides>11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宋体</vt:lpstr>
      <vt:lpstr>Wingdings</vt:lpstr>
      <vt:lpstr>黑体</vt:lpstr>
      <vt:lpstr>BatangChe</vt:lpstr>
      <vt:lpstr>Malgun Gothic</vt:lpstr>
      <vt:lpstr>微软雅黑</vt:lpstr>
      <vt:lpstr>Noto Sans SC</vt:lpstr>
      <vt:lpstr>Noto Sans CJK SC</vt:lpstr>
      <vt:lpstr>MingLiU-ExtB</vt:lpstr>
      <vt:lpstr>Noto Sans CJK SC</vt:lpstr>
      <vt:lpstr>AMGDT</vt:lpstr>
      <vt:lpstr>Noto Sans CJK SC</vt:lpstr>
      <vt:lpstr>等线</vt:lpstr>
      <vt:lpstr>KSOF88D9EE40</vt:lpstr>
      <vt:lpstr>Arial Unicode MS</vt:lpstr>
      <vt:lpstr>等线 Light</vt:lpstr>
      <vt:lpstr>KSOF6AB7B7DF</vt:lpstr>
      <vt:lpstr>Calibri</vt:lpstr>
      <vt:lpstr>BatangChe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5亿欧元的教训：Lidl SAP系统升级失败案例</dc:title>
  <dc:creator>OpenAI</dc:creator>
  <dc:subject>Lidl SAP system upgrade failure case</dc:subject>
  <cp:lastModifiedBy>陌&amp;千歌</cp:lastModifiedBy>
  <cp:revision>91</cp:revision>
  <dcterms:created xsi:type="dcterms:W3CDTF">2026-06-12T11:46:00Z</dcterms:created>
  <dcterms:modified xsi:type="dcterms:W3CDTF">2026-06-14T16:58:11Z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F7D4D2A47CE14CD8904C03952B7A5AEA_13</vt:lpwstr>
  </property>
  <property fmtid="{D5CDD505-2E9C-101B-9397-08002B2CF9AE}" pid="3" name="KSOProductBuildVer">
    <vt:lpwstr>2052-12.1.0.26895</vt:lpwstr>
  </property>
</Properties>
</file>