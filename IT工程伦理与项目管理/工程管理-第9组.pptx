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7" r:id="rId2"/>
    <p:sldId id="307" r:id="rId3"/>
    <p:sldId id="347" r:id="rId4"/>
    <p:sldId id="353" r:id="rId5"/>
    <p:sldId id="349" r:id="rId6"/>
    <p:sldId id="354" r:id="rId7"/>
    <p:sldId id="350" r:id="rId8"/>
    <p:sldId id="352" r:id="rId9"/>
    <p:sldId id="356" r:id="rId10"/>
    <p:sldId id="359" r:id="rId11"/>
    <p:sldId id="360" r:id="rId12"/>
    <p:sldId id="361" r:id="rId13"/>
    <p:sldId id="336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5EFF8"/>
    <a:srgbClr val="003F88"/>
    <a:srgbClr val="E9F3FA"/>
    <a:srgbClr val="FDFFFF"/>
    <a:srgbClr val="F3F9FE"/>
    <a:srgbClr val="F8F8F8"/>
    <a:srgbClr val="8994BD"/>
    <a:srgbClr val="96A2D0"/>
    <a:srgbClr val="93BFF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>
      <p:cViewPr varScale="1">
        <p:scale>
          <a:sx n="93" d="100"/>
          <a:sy n="93" d="100"/>
        </p:scale>
        <p:origin x="134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BC71-470F-4178-8939-B7F43C998C3E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F53EF-5364-44E3-BFA2-84231755F7E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个案例，离我们每个人都更近。社交媒体和短视频平台的核心是争夺我们的“注意力”。它们利用“多巴胺算法”，通过精准画像、无限下拉和间歇性奖励，像设计毒品一样设计产品，让我们欲罢不能。我们以为是自己在刷手机，实际上是算法在“刷”我们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这种成瘾性设计终于迎来了法律的制裁。就在今年，2026年3月，美国法院做出了历史性判决，认定Meta和谷歌因产品设计缺陷导致用户成瘾，需赔偿600万美元。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此案被称为科技行业的“大烟草时刻”，它标志着平台再也不能以“技术中立”为挡箭牌，必须为其产品设计对用户造成的伤害负责。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rPr lang="zh-CN" altLang="en-US" smtClean="0"/>
              <a:t>2026/5/18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tags" Target="../tags/tag3.xml"/><Relationship Id="rId7" Type="http://schemas.openxmlformats.org/officeDocument/2006/relationships/image" Target="../media/image9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image" Target="../media/image12.png"/><Relationship Id="rId3" Type="http://schemas.openxmlformats.org/officeDocument/2006/relationships/tags" Target="../tags/tag7.xml"/><Relationship Id="rId7" Type="http://schemas.openxmlformats.org/officeDocument/2006/relationships/tags" Target="../tags/tag11.xml"/><Relationship Id="rId12" Type="http://schemas.openxmlformats.org/officeDocument/2006/relationships/image" Target="../media/image11.jpeg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image" Target="../media/image1.png"/><Relationship Id="rId5" Type="http://schemas.openxmlformats.org/officeDocument/2006/relationships/tags" Target="../tags/tag9.xml"/><Relationship Id="rId10" Type="http://schemas.openxmlformats.org/officeDocument/2006/relationships/slideLayout" Target="../slideLayouts/slideLayout7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tags" Target="../tags/tag17.xml"/><Relationship Id="rId7" Type="http://schemas.openxmlformats.org/officeDocument/2006/relationships/image" Target="../media/image14.sv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notesSlide" Target="../notesSlides/notesSlide1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1.xml"/><Relationship Id="rId10" Type="http://schemas.openxmlformats.org/officeDocument/2006/relationships/image" Target="../media/image17.jpeg"/><Relationship Id="rId4" Type="http://schemas.openxmlformats.org/officeDocument/2006/relationships/tags" Target="../tags/tag18.xml"/><Relationship Id="rId9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image" Target="../media/image24.jpeg"/><Relationship Id="rId5" Type="http://schemas.openxmlformats.org/officeDocument/2006/relationships/tags" Target="../tags/tag23.xml"/><Relationship Id="rId10" Type="http://schemas.openxmlformats.org/officeDocument/2006/relationships/image" Target="../media/image23.jpeg"/><Relationship Id="rId4" Type="http://schemas.openxmlformats.org/officeDocument/2006/relationships/tags" Target="../tags/tag22.xml"/><Relationship Id="rId9" Type="http://schemas.openxmlformats.org/officeDocument/2006/relationships/image" Target="../media/image22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svg"/><Relationship Id="rId4" Type="http://schemas.openxmlformats.org/officeDocument/2006/relationships/image" Target="../media/image2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18" y="234323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1918335"/>
            <a:ext cx="12192000" cy="3701415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167485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621130" y="5773013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9169400" y="5125991"/>
            <a:ext cx="29095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600" dirty="0">
                <a:solidFill>
                  <a:schemeClr val="bg1"/>
                </a:solidFill>
              </a:rPr>
              <a:t>第</a:t>
            </a:r>
            <a:r>
              <a:rPr lang="en-US" altLang="zh-CN" sz="1600" dirty="0">
                <a:solidFill>
                  <a:schemeClr val="bg1"/>
                </a:solidFill>
              </a:rPr>
              <a:t>9</a:t>
            </a:r>
            <a:r>
              <a:rPr lang="zh-CN" altLang="en-US" sz="1600" dirty="0">
                <a:solidFill>
                  <a:schemeClr val="bg1"/>
                </a:solidFill>
              </a:rPr>
              <a:t>小组 </a:t>
            </a:r>
            <a:r>
              <a:rPr lang="en-US" altLang="zh-CN" sz="1600" dirty="0">
                <a:solidFill>
                  <a:schemeClr val="bg1"/>
                </a:solidFill>
                <a:latin typeface="BatangChe" panose="02030609000101010101" pitchFamily="49" charset="-127"/>
                <a:ea typeface="BatangChe" panose="02030609000101010101" pitchFamily="49" charset="-127"/>
              </a:rPr>
              <a:t>|</a:t>
            </a:r>
            <a:r>
              <a:rPr lang="en-US" altLang="zh-CN" sz="1600" dirty="0">
                <a:solidFill>
                  <a:schemeClr val="bg1"/>
                </a:solidFill>
              </a:rPr>
              <a:t> 2026.5.22</a:t>
            </a:r>
          </a:p>
        </p:txBody>
      </p:sp>
      <p:sp>
        <p:nvSpPr>
          <p:cNvPr id="3" name="AutoShape 3"/>
          <p:cNvSpPr/>
          <p:nvPr/>
        </p:nvSpPr>
        <p:spPr>
          <a:xfrm>
            <a:off x="0" y="2428012"/>
            <a:ext cx="1219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4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被算法安排的人</a:t>
            </a:r>
            <a:endParaRPr lang="en-US" sz="4400" dirty="0"/>
          </a:p>
        </p:txBody>
      </p:sp>
      <p:sp>
        <p:nvSpPr>
          <p:cNvPr id="4" name="AutoShape 4"/>
          <p:cNvSpPr/>
          <p:nvPr/>
        </p:nvSpPr>
        <p:spPr>
          <a:xfrm>
            <a:off x="3694747" y="3542868"/>
            <a:ext cx="4802505" cy="5628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3599155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lnSpc>
                <a:spcPct val="125000"/>
              </a:lnSpc>
              <a:buClrTx/>
              <a:buSzTx/>
              <a:buFontTx/>
              <a:defRPr/>
            </a:pPr>
            <a:r>
              <a:rPr lang="en-US" sz="20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工程伦理的当代困境与反思</a:t>
            </a:r>
            <a:endParaRPr lang="en-US" sz="2000" b="1" dirty="0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4189730" cy="68580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488" y="-132623"/>
            <a:ext cx="3947419" cy="13820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8901" y="2668728"/>
            <a:ext cx="22545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dirty="0">
                <a:solidFill>
                  <a:schemeClr val="bg1"/>
                </a:solidFill>
              </a:rPr>
              <a:t>目  录</a:t>
            </a:r>
            <a:endParaRPr lang="en-US" altLang="zh-CN" sz="5400" dirty="0">
              <a:solidFill>
                <a:schemeClr val="bg1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1320076" y="3941730"/>
            <a:ext cx="18790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bg1"/>
                </a:solidFill>
                <a:cs typeface="Arial" panose="020B0604020202020204" pitchFamily="34" charset="0"/>
              </a:rPr>
              <a:t>CONTENTS</a:t>
            </a:r>
            <a:endParaRPr lang="zh-CN" altLang="en-US" sz="24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820546" y="2927691"/>
            <a:ext cx="254121" cy="405405"/>
            <a:chOff x="872368" y="2932651"/>
            <a:chExt cx="289004" cy="461055"/>
          </a:xfrm>
          <a:solidFill>
            <a:schemeClr val="bg1">
              <a:alpha val="25000"/>
            </a:schemeClr>
          </a:solidFill>
        </p:grpSpPr>
        <p:sp>
          <p:nvSpPr>
            <p:cNvPr id="7" name="梯形 6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梯形 7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梯形 8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flipH="1">
            <a:off x="3311236" y="2927691"/>
            <a:ext cx="254121" cy="405405"/>
            <a:chOff x="872368" y="2932651"/>
            <a:chExt cx="289004" cy="461055"/>
          </a:xfrm>
          <a:solidFill>
            <a:schemeClr val="bg1">
              <a:alpha val="24000"/>
            </a:schemeClr>
          </a:solidFill>
        </p:grpSpPr>
        <p:sp>
          <p:nvSpPr>
            <p:cNvPr id="12" name="梯形 11"/>
            <p:cNvSpPr/>
            <p:nvPr/>
          </p:nvSpPr>
          <p:spPr>
            <a:xfrm rot="16200000">
              <a:off x="907985" y="3140319"/>
              <a:ext cx="461055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梯形 12"/>
            <p:cNvSpPr/>
            <p:nvPr/>
          </p:nvSpPr>
          <p:spPr>
            <a:xfrm rot="16200000">
              <a:off x="865248" y="3140319"/>
              <a:ext cx="298081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梯形 13"/>
            <p:cNvSpPr/>
            <p:nvPr/>
          </p:nvSpPr>
          <p:spPr>
            <a:xfrm rot="16200000">
              <a:off x="801751" y="3140319"/>
              <a:ext cx="186954" cy="45719"/>
            </a:xfrm>
            <a:prstGeom prst="trapezoi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矩形 14"/>
          <p:cNvSpPr/>
          <p:nvPr/>
        </p:nvSpPr>
        <p:spPr>
          <a:xfrm>
            <a:off x="555838" y="3738315"/>
            <a:ext cx="3320716" cy="45719"/>
          </a:xfrm>
          <a:prstGeom prst="rect">
            <a:avLst/>
          </a:prstGeom>
          <a:solidFill>
            <a:schemeClr val="bg1">
              <a:lumMod val="9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-160343" y="1201274"/>
            <a:ext cx="4408441" cy="5899957"/>
          </a:xfrm>
          <a:prstGeom prst="rect">
            <a:avLst/>
          </a:prstGeom>
          <a:blipFill dpi="0" rotWithShape="1">
            <a:blip r:embed="rId3">
              <a:alphaModFix amt="5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EDD703C6-3990-160E-3BB0-80B5BF062D11}"/>
              </a:ext>
            </a:extLst>
          </p:cNvPr>
          <p:cNvGrpSpPr/>
          <p:nvPr/>
        </p:nvGrpSpPr>
        <p:grpSpPr>
          <a:xfrm>
            <a:off x="4826238" y="1259851"/>
            <a:ext cx="6395056" cy="788662"/>
            <a:chOff x="5399714" y="1392038"/>
            <a:chExt cx="6395056" cy="788662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D3D06BC3-800C-AB34-D878-B0BFD7959F93}"/>
                </a:ext>
              </a:extLst>
            </p:cNvPr>
            <p:cNvGrpSpPr/>
            <p:nvPr/>
          </p:nvGrpSpPr>
          <p:grpSpPr>
            <a:xfrm>
              <a:off x="5399714" y="1392038"/>
              <a:ext cx="770179" cy="788662"/>
              <a:chOff x="5399714" y="1392038"/>
              <a:chExt cx="770179" cy="788662"/>
            </a:xfrm>
          </p:grpSpPr>
          <p:sp>
            <p:nvSpPr>
              <p:cNvPr id="20" name="矩形: 对角圆角 19">
                <a:extLst>
                  <a:ext uri="{FF2B5EF4-FFF2-40B4-BE49-F238E27FC236}">
                    <a16:creationId xmlns:a16="http://schemas.microsoft.com/office/drawing/2014/main" id="{829C75E7-C3FD-CF93-6C88-BD6208C8621D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7EE171C-C64C-9CBD-E736-CC5676C3F086}"/>
                  </a:ext>
                </a:extLst>
              </p:cNvPr>
              <p:cNvSpPr txBox="1"/>
              <p:nvPr/>
            </p:nvSpPr>
            <p:spPr>
              <a:xfrm>
                <a:off x="5473607" y="1392038"/>
                <a:ext cx="6962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1</a:t>
                </a:r>
                <a:endParaRPr lang="zh-CN" altLang="en-US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41BC006-AE7B-E890-86F8-73D8AD6BDEEA}"/>
                </a:ext>
              </a:extLst>
            </p:cNvPr>
            <p:cNvSpPr txBox="1"/>
            <p:nvPr/>
          </p:nvSpPr>
          <p:spPr>
            <a:xfrm>
              <a:off x="6346090" y="1534369"/>
              <a:ext cx="54486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</a:rPr>
                <a:t>亚马逊“</a:t>
              </a:r>
              <a:r>
                <a:rPr lang="en-US" altLang="zh-CN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</a:rPr>
                <a:t>AI</a:t>
              </a:r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</a:rPr>
                <a:t>监工”下的劳动异化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953AF0B6-091D-3DD2-9811-683F8BDA57F5}"/>
              </a:ext>
            </a:extLst>
          </p:cNvPr>
          <p:cNvGrpSpPr/>
          <p:nvPr/>
        </p:nvGrpSpPr>
        <p:grpSpPr>
          <a:xfrm>
            <a:off x="4826238" y="2250503"/>
            <a:ext cx="5643891" cy="802430"/>
            <a:chOff x="5399714" y="1378270"/>
            <a:chExt cx="5643891" cy="802430"/>
          </a:xfrm>
        </p:grpSpPr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13BDA4B3-A844-B935-D49F-B4833EBE4C81}"/>
                </a:ext>
              </a:extLst>
            </p:cNvPr>
            <p:cNvGrpSpPr/>
            <p:nvPr/>
          </p:nvGrpSpPr>
          <p:grpSpPr>
            <a:xfrm>
              <a:off x="5399714" y="1378270"/>
              <a:ext cx="765025" cy="802430"/>
              <a:chOff x="5399714" y="1378270"/>
              <a:chExt cx="765025" cy="802430"/>
            </a:xfrm>
          </p:grpSpPr>
          <p:sp>
            <p:nvSpPr>
              <p:cNvPr id="25" name="矩形: 对角圆角 24">
                <a:extLst>
                  <a:ext uri="{FF2B5EF4-FFF2-40B4-BE49-F238E27FC236}">
                    <a16:creationId xmlns:a16="http://schemas.microsoft.com/office/drawing/2014/main" id="{89FB617A-C609-339E-9054-C969FEF3691C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EFB0C1C-867E-62D0-C82A-CF83A60EC42B}"/>
                  </a:ext>
                </a:extLst>
              </p:cNvPr>
              <p:cNvSpPr txBox="1"/>
              <p:nvPr/>
            </p:nvSpPr>
            <p:spPr>
              <a:xfrm>
                <a:off x="5468453" y="1378270"/>
                <a:ext cx="6962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2</a:t>
                </a:r>
                <a:endParaRPr lang="zh-CN" altLang="en-US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B934D9A2-E41C-0F2F-997F-11E11ECA61FE}"/>
                </a:ext>
              </a:extLst>
            </p:cNvPr>
            <p:cNvSpPr txBox="1"/>
            <p:nvPr/>
          </p:nvSpPr>
          <p:spPr>
            <a:xfrm>
              <a:off x="6345770" y="1534369"/>
              <a:ext cx="46978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ea typeface="+mj-ea"/>
                </a:rPr>
                <a:t>网约车动态定价与派单公平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D8EE8874-BEDA-9CFB-68F5-8BE6171B823D}"/>
              </a:ext>
            </a:extLst>
          </p:cNvPr>
          <p:cNvGrpSpPr/>
          <p:nvPr/>
        </p:nvGrpSpPr>
        <p:grpSpPr>
          <a:xfrm>
            <a:off x="4826239" y="3254923"/>
            <a:ext cx="7238761" cy="788662"/>
            <a:chOff x="5399714" y="1392038"/>
            <a:chExt cx="7238761" cy="788662"/>
          </a:xfrm>
        </p:grpSpPr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E0217136-0888-1AE6-1260-F70A57A220D7}"/>
                </a:ext>
              </a:extLst>
            </p:cNvPr>
            <p:cNvGrpSpPr/>
            <p:nvPr/>
          </p:nvGrpSpPr>
          <p:grpSpPr>
            <a:xfrm>
              <a:off x="5399714" y="1392038"/>
              <a:ext cx="770179" cy="788662"/>
              <a:chOff x="5399714" y="1392038"/>
              <a:chExt cx="770179" cy="788662"/>
            </a:xfrm>
          </p:grpSpPr>
          <p:sp>
            <p:nvSpPr>
              <p:cNvPr id="30" name="矩形: 对角圆角 29">
                <a:extLst>
                  <a:ext uri="{FF2B5EF4-FFF2-40B4-BE49-F238E27FC236}">
                    <a16:creationId xmlns:a16="http://schemas.microsoft.com/office/drawing/2014/main" id="{4414066A-A748-C3C0-F56D-329A3DA60A1C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DF8DC7F-8AC8-0BE5-1D1A-CA363783397B}"/>
                  </a:ext>
                </a:extLst>
              </p:cNvPr>
              <p:cNvSpPr txBox="1"/>
              <p:nvPr/>
            </p:nvSpPr>
            <p:spPr>
              <a:xfrm>
                <a:off x="5473607" y="1392038"/>
                <a:ext cx="6962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3</a:t>
                </a:r>
                <a:endParaRPr lang="zh-CN" altLang="en-US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21DBD354-8B9E-BAAC-9516-F1571814145E}"/>
                </a:ext>
              </a:extLst>
            </p:cNvPr>
            <p:cNvSpPr txBox="1"/>
            <p:nvPr/>
          </p:nvSpPr>
          <p:spPr>
            <a:xfrm>
              <a:off x="6346089" y="1534369"/>
              <a:ext cx="62923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社交媒体“多巴胺算法”下的成瘾性工程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2E206CE8-1428-7767-39DA-2BA39BC7B8D9}"/>
              </a:ext>
            </a:extLst>
          </p:cNvPr>
          <p:cNvGrpSpPr/>
          <p:nvPr/>
        </p:nvGrpSpPr>
        <p:grpSpPr>
          <a:xfrm>
            <a:off x="4826240" y="4245575"/>
            <a:ext cx="5644209" cy="788662"/>
            <a:chOff x="5399714" y="1392038"/>
            <a:chExt cx="5644209" cy="788662"/>
          </a:xfrm>
        </p:grpSpPr>
        <p:grpSp>
          <p:nvGrpSpPr>
            <p:cNvPr id="33" name="组合 32">
              <a:extLst>
                <a:ext uri="{FF2B5EF4-FFF2-40B4-BE49-F238E27FC236}">
                  <a16:creationId xmlns:a16="http://schemas.microsoft.com/office/drawing/2014/main" id="{D7436A8F-DF5F-9D6D-4AC7-BB02B0BA28DA}"/>
                </a:ext>
              </a:extLst>
            </p:cNvPr>
            <p:cNvGrpSpPr/>
            <p:nvPr/>
          </p:nvGrpSpPr>
          <p:grpSpPr>
            <a:xfrm>
              <a:off x="5399714" y="1392038"/>
              <a:ext cx="770179" cy="788662"/>
              <a:chOff x="5399714" y="1392038"/>
              <a:chExt cx="770179" cy="788662"/>
            </a:xfrm>
          </p:grpSpPr>
          <p:sp>
            <p:nvSpPr>
              <p:cNvPr id="36" name="矩形: 对角圆角 35">
                <a:extLst>
                  <a:ext uri="{FF2B5EF4-FFF2-40B4-BE49-F238E27FC236}">
                    <a16:creationId xmlns:a16="http://schemas.microsoft.com/office/drawing/2014/main" id="{4D15BB1D-D85F-3D29-2686-4824360DD57F}"/>
                  </a:ext>
                </a:extLst>
              </p:cNvPr>
              <p:cNvSpPr/>
              <p:nvPr/>
            </p:nvSpPr>
            <p:spPr>
              <a:xfrm>
                <a:off x="5399714" y="1895803"/>
                <a:ext cx="696286" cy="284897"/>
              </a:xfrm>
              <a:prstGeom prst="round2DiagRect">
                <a:avLst>
                  <a:gd name="adj1" fmla="val 50000"/>
                  <a:gd name="adj2" fmla="val 0"/>
                </a:avLst>
              </a:prstGeom>
              <a:gradFill flip="none" rotWithShape="1">
                <a:gsLst>
                  <a:gs pos="100000">
                    <a:schemeClr val="accent1">
                      <a:lumMod val="0"/>
                      <a:lumOff val="100000"/>
                      <a:alpha val="36000"/>
                    </a:schemeClr>
                  </a:gs>
                  <a:gs pos="0">
                    <a:srgbClr val="003F88"/>
                  </a:gs>
                </a:gsLst>
                <a:lin ang="1200000" scaled="0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</a:endParaRPr>
              </a:p>
            </p:txBody>
          </p:sp>
          <p:sp>
            <p:nvSpPr>
              <p:cNvPr id="37" name="文本框 36">
                <a:extLst>
                  <a:ext uri="{FF2B5EF4-FFF2-40B4-BE49-F238E27FC236}">
                    <a16:creationId xmlns:a16="http://schemas.microsoft.com/office/drawing/2014/main" id="{2FAC690D-62F2-FC38-8725-FC609C1B0F64}"/>
                  </a:ext>
                </a:extLst>
              </p:cNvPr>
              <p:cNvSpPr txBox="1"/>
              <p:nvPr/>
            </p:nvSpPr>
            <p:spPr>
              <a:xfrm>
                <a:off x="5473607" y="1392038"/>
                <a:ext cx="696286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US" altLang="zh-CN" sz="4000" b="1" i="1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黑体" panose="02010609060101010101" pitchFamily="49" charset="-122"/>
                    <a:cs typeface="Arial" panose="020B0604020202020204" pitchFamily="34" charset="0"/>
                  </a:rPr>
                  <a:t>4</a:t>
                </a:r>
                <a:endParaRPr lang="zh-CN" altLang="en-US" sz="4000" b="1" i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128D50C9-F851-CFB0-2703-2C909CD287F0}"/>
                </a:ext>
              </a:extLst>
            </p:cNvPr>
            <p:cNvSpPr txBox="1"/>
            <p:nvPr/>
          </p:nvSpPr>
          <p:spPr>
            <a:xfrm>
              <a:off x="6346088" y="1534369"/>
              <a:ext cx="46978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4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+mj-ea"/>
                  <a:ea typeface="+mj-ea"/>
                </a:rPr>
                <a:t>总结与建议</a:t>
              </a:r>
              <a:endParaRPr lang="zh-CN" altLang="en-US" sz="2400" b="1" dirty="0">
                <a:solidFill>
                  <a:schemeClr val="tx1">
                    <a:lumMod val="85000"/>
                    <a:lumOff val="15000"/>
                  </a:schemeClr>
                </a:solidFill>
                <a:ea typeface="黑体" panose="02010609060101010101" pitchFamily="49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526415" y="1590675"/>
            <a:ext cx="11074400" cy="4973320"/>
          </a:xfrm>
          <a:prstGeom prst="rect">
            <a:avLst/>
          </a:prstGeom>
          <a:solidFill>
            <a:srgbClr val="F3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AutoShape 2"/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案例一：亚马逊“AI监工”下的劳动异化</a:t>
            </a:r>
            <a:endParaRPr lang="en-US" sz="3200" dirty="0"/>
          </a:p>
        </p:txBody>
      </p:sp>
      <p:sp>
        <p:nvSpPr>
          <p:cNvPr id="28" name="AutoShape 3"/>
          <p:cNvSpPr/>
          <p:nvPr/>
        </p:nvSpPr>
        <p:spPr>
          <a:xfrm>
            <a:off x="720725" y="98044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2200" b="1" i="0" u="none" strike="noStrike">
                <a:solidFill>
                  <a:srgbClr val="0D47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当人成为算法的“螺丝钉”</a:t>
            </a:r>
            <a:endParaRPr lang="en-US" sz="2200" b="1">
              <a:solidFill>
                <a:srgbClr val="0D47A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31" name="AutoShape 6"/>
          <p:cNvSpPr/>
          <p:nvPr/>
        </p:nvSpPr>
        <p:spPr>
          <a:xfrm>
            <a:off x="895985" y="1828165"/>
            <a:ext cx="6141085" cy="280543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25400" cap="flat" cmpd="sng">
            <a:solidFill>
              <a:srgbClr val="0C346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2" name="AutoShape 7"/>
          <p:cNvSpPr/>
          <p:nvPr/>
        </p:nvSpPr>
        <p:spPr>
          <a:xfrm>
            <a:off x="1623060" y="1895475"/>
            <a:ext cx="457708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▌ 算法管控核心机制</a:t>
            </a:r>
          </a:p>
        </p:txBody>
      </p:sp>
      <p:pic>
        <p:nvPicPr>
          <p:cNvPr id="33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5210" y="2441575"/>
            <a:ext cx="327660" cy="279400"/>
          </a:xfrm>
          <a:prstGeom prst="rect">
            <a:avLst/>
          </a:prstGeom>
        </p:spPr>
      </p:pic>
      <p:sp>
        <p:nvSpPr>
          <p:cNvPr id="34" name="AutoShape 9"/>
          <p:cNvSpPr/>
          <p:nvPr/>
        </p:nvSpPr>
        <p:spPr>
          <a:xfrm>
            <a:off x="1537970" y="2136775"/>
            <a:ext cx="513461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秒级计算</a:t>
            </a:r>
            <a:r>
              <a:rPr lang="en-US" sz="1400" b="1" i="0" u="none" strike="noStrike" dirty="0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以秒为单位定义任务“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标准时间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”，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精确量化每一步</a:t>
            </a:r>
            <a:endParaRPr lang="en-US" sz="1400" dirty="0"/>
          </a:p>
        </p:txBody>
      </p:sp>
      <p:pic>
        <p:nvPicPr>
          <p:cNvPr id="37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5210" y="3521075"/>
            <a:ext cx="327660" cy="279400"/>
          </a:xfrm>
          <a:prstGeom prst="rect">
            <a:avLst/>
          </a:prstGeom>
        </p:spPr>
      </p:pic>
      <p:sp>
        <p:nvSpPr>
          <p:cNvPr id="38" name="AutoShape 13"/>
          <p:cNvSpPr/>
          <p:nvPr/>
        </p:nvSpPr>
        <p:spPr>
          <a:xfrm>
            <a:off x="1537970" y="3165475"/>
            <a:ext cx="5136515" cy="972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400" b="1" i="0" u="none" strike="noStrike" dirty="0" err="1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实时监控</a:t>
            </a:r>
            <a:r>
              <a:rPr lang="en-US" sz="1400" b="1" i="0" u="none" strike="noStrike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通过扫描器与摄像头，全方位追踪员工位置与动作</a:t>
            </a:r>
            <a:endParaRPr lang="en-US" sz="1400" dirty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39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0610" y="4041775"/>
            <a:ext cx="302895" cy="254000"/>
          </a:xfrm>
          <a:prstGeom prst="rect">
            <a:avLst/>
          </a:prstGeom>
        </p:spPr>
      </p:pic>
      <p:sp>
        <p:nvSpPr>
          <p:cNvPr id="40" name="AutoShape 15"/>
          <p:cNvSpPr/>
          <p:nvPr/>
        </p:nvSpPr>
        <p:spPr>
          <a:xfrm>
            <a:off x="1537970" y="3804285"/>
            <a:ext cx="5133975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1400" b="1" i="0" u="none" strike="noStrike" dirty="0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TOT红线</a:t>
            </a:r>
            <a:r>
              <a:rPr lang="en-US" sz="1300" b="1" i="0" u="none" strike="noStrike" dirty="0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如厕、饮水被定义为“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离岗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”，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超标即触发解雇警告</a:t>
            </a:r>
            <a:endParaRPr lang="en-US" sz="1400" dirty="0">
              <a:solidFill>
                <a:srgbClr val="505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1" name="AutoShape 16"/>
          <p:cNvSpPr/>
          <p:nvPr/>
        </p:nvSpPr>
        <p:spPr>
          <a:xfrm>
            <a:off x="720725" y="4917440"/>
            <a:ext cx="10668000" cy="1397000"/>
          </a:xfrm>
          <a:prstGeom prst="roundRect">
            <a:avLst>
              <a:gd name="adj" fmla="val 7272"/>
            </a:avLst>
          </a:prstGeom>
          <a:solidFill>
            <a:schemeClr val="bg1"/>
          </a:solidFill>
          <a:ln w="12700" cap="flat" cmpd="sng">
            <a:solidFill>
              <a:srgbClr val="0C3468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2" name="AutoShape 17"/>
          <p:cNvSpPr/>
          <p:nvPr/>
        </p:nvSpPr>
        <p:spPr>
          <a:xfrm>
            <a:off x="720725" y="4917440"/>
            <a:ext cx="76200" cy="1397000"/>
          </a:xfrm>
          <a:prstGeom prst="roundRect">
            <a:avLst>
              <a:gd name="adj" fmla="val 0"/>
            </a:avLst>
          </a:prstGeom>
          <a:solidFill>
            <a:srgbClr val="0C3468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43" name="AutoShape 18"/>
          <p:cNvSpPr/>
          <p:nvPr/>
        </p:nvSpPr>
        <p:spPr>
          <a:xfrm>
            <a:off x="1045210" y="5027295"/>
            <a:ext cx="508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600" b="1" i="0" u="none" strike="noStrike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极限的剥削：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亚马逊部分仓库的员工工作节奏被压缩至生理极限，平均每小时需完成</a:t>
            </a:r>
            <a:r>
              <a:rPr lang="en-US" sz="1600" b="1" i="0" u="none" strike="noStrike">
                <a:solidFill>
                  <a:srgbClr val="C8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数百次</a:t>
            </a:r>
            <a:r>
              <a:rPr lang="en-US" sz="16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的拣货动作，几乎没有喝水或短暂休息的时间。</a:t>
            </a:r>
            <a:endParaRPr lang="en-US" sz="1600"/>
          </a:p>
        </p:txBody>
      </p:sp>
      <p:sp>
        <p:nvSpPr>
          <p:cNvPr id="44" name="AutoShape 19"/>
          <p:cNvSpPr/>
          <p:nvPr/>
        </p:nvSpPr>
        <p:spPr>
          <a:xfrm>
            <a:off x="6464300" y="510794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fontAlgn="auto">
              <a:lnSpc>
                <a:spcPct val="150000"/>
              </a:lnSpc>
              <a:defRPr/>
            </a:pPr>
            <a:r>
              <a:rPr lang="en-US" sz="1400" b="0" i="1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“你感觉自己不是在为亚马逊工作，也不是在为经理工作，而是在为那个扫描器里的声音工作。”</a:t>
            </a:r>
          </a:p>
          <a:p>
            <a:pPr indent="0" algn="l" fontAlgn="auto">
              <a:lnSpc>
                <a:spcPct val="150000"/>
              </a:lnSpc>
              <a:defRPr/>
            </a:pPr>
            <a:r>
              <a:rPr lang="en-US" sz="1400" b="0" i="1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                                                            —— 亚马逊仓库员工口述</a:t>
            </a:r>
            <a:endParaRPr lang="en-US" sz="1400"/>
          </a:p>
        </p:txBody>
      </p:sp>
      <p:pic>
        <p:nvPicPr>
          <p:cNvPr id="45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5210" y="3000375"/>
            <a:ext cx="327660" cy="279400"/>
          </a:xfrm>
          <a:prstGeom prst="rect">
            <a:avLst/>
          </a:prstGeom>
        </p:spPr>
      </p:pic>
      <p:sp>
        <p:nvSpPr>
          <p:cNvPr id="46" name="AutoShape 11"/>
          <p:cNvSpPr/>
          <p:nvPr/>
        </p:nvSpPr>
        <p:spPr>
          <a:xfrm>
            <a:off x="1537970" y="2652395"/>
            <a:ext cx="5304155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chemeClr val="accent1">
                    <a:lumMod val="75000"/>
                  </a:scheme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路径规划</a:t>
            </a:r>
            <a:r>
              <a:rPr lang="en-US" sz="1400" b="1" i="0" u="none" strike="noStrike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系统强制指定最高效路径，员工不得偏离</a:t>
            </a:r>
            <a:endParaRPr lang="en-US" sz="1100" dirty="0"/>
          </a:p>
        </p:txBody>
      </p:sp>
      <p:pic>
        <p:nvPicPr>
          <p:cNvPr id="47" name="图片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90740" y="1837690"/>
            <a:ext cx="4099560" cy="27971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18" name="剪去单角的矩形 45"/>
          <p:cNvSpPr/>
          <p:nvPr>
            <p:custDataLst>
              <p:tags r:id="rId1"/>
            </p:custDataLst>
          </p:nvPr>
        </p:nvSpPr>
        <p:spPr>
          <a:xfrm flipV="1">
            <a:off x="895985" y="1223010"/>
            <a:ext cx="3522980" cy="49022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1125220" y="1283970"/>
            <a:ext cx="348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b="1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安全与福祉优先原则的背离</a:t>
            </a:r>
            <a:endParaRPr lang="en-US" b="1" dirty="0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9" name="剪去单角的矩形 45"/>
          <p:cNvSpPr/>
          <p:nvPr>
            <p:custDataLst>
              <p:tags r:id="rId3"/>
            </p:custDataLst>
          </p:nvPr>
        </p:nvSpPr>
        <p:spPr>
          <a:xfrm flipV="1">
            <a:off x="895985" y="3761105"/>
            <a:ext cx="3522980" cy="490220"/>
          </a:xfrm>
          <a:prstGeom prst="snip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125220" y="3822065"/>
            <a:ext cx="348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b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技术异化与人的工具化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977265" y="1787525"/>
            <a:ext cx="8952003" cy="16063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algn="l" fontAlgn="auto">
              <a:lnSpc>
                <a:spcPct val="140000"/>
              </a:lnSpc>
              <a:buClrTx/>
              <a:buSzTx/>
              <a:buFontTx/>
              <a:defRPr/>
            </a:pPr>
            <a:r>
              <a:rPr lang="en-US" sz="2000" dirty="0">
                <a:solidFill>
                  <a:srgbClr val="3C3C3C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 panose="020B0200000000000000" charset="-122"/>
              </a:rPr>
              <a:t>·</a:t>
            </a:r>
            <a:r>
              <a:rPr lang="en-US" sz="1600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工程伦理中</a:t>
            </a:r>
            <a:r>
              <a:rPr 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</a:t>
            </a:r>
            <a:r>
              <a:rPr lang="en-US" sz="1600" b="1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“</a:t>
            </a:r>
            <a:r>
              <a:rPr lang="en-US" sz="1600" b="1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人的安全、健康与福祉</a:t>
            </a:r>
            <a:r>
              <a:rPr lang="en-US" sz="1600" b="1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” </a:t>
            </a:r>
            <a:r>
              <a:rPr lang="en-US" sz="1600" b="1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是技术设计的重要原则</a:t>
            </a:r>
            <a:r>
              <a:rPr 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</a:p>
          <a:p>
            <a:pPr indent="0" algn="l" fontAlgn="auto">
              <a:lnSpc>
                <a:spcPct val="140000"/>
              </a:lnSpc>
              <a:buClrTx/>
              <a:buSzTx/>
              <a:buFontTx/>
              <a:defRPr/>
            </a:pPr>
            <a:r>
              <a:rPr lang="en-US" sz="2000" dirty="0">
                <a:solidFill>
                  <a:srgbClr val="3C3C3C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 panose="020B0200000000000000" charset="-122"/>
                <a:sym typeface="+mn-ea"/>
              </a:rPr>
              <a:t>·</a:t>
            </a:r>
            <a:r>
              <a:rPr lang="en-US" sz="1600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系统以</a:t>
            </a:r>
            <a:r>
              <a:rPr 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“</a:t>
            </a:r>
            <a:r>
              <a:rPr lang="en-US" sz="1600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效率最大化</a:t>
            </a:r>
            <a:r>
              <a:rPr 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” 为唯一目标，将员工的生理极限（如厕、休息、饮水时间）定义为“效率损耗”，用“离岗时间（TOT）”指标进行量化监控。这种设计</a:t>
            </a:r>
            <a:r>
              <a:rPr lang="en-US" sz="1600" b="1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漠视了劳动者的基本生理与心理健康需求</a:t>
            </a:r>
            <a:r>
              <a:rPr 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，直接导致工伤率上升、职业倦怠和身心健康受损，完全违背了技术应服务于人的初衷。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977265" y="4391447"/>
            <a:ext cx="11075035" cy="2072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  <a:buClrTx/>
              <a:buSzTx/>
              <a:buFontTx/>
              <a:defRPr/>
            </a:pPr>
            <a:r>
              <a:rPr lang="en-US" sz="2000" dirty="0">
                <a:solidFill>
                  <a:srgbClr val="3C3C3C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 panose="020B0200000000000000" charset="-122"/>
                <a:sym typeface="+mn-ea"/>
              </a:rPr>
              <a:t>·</a:t>
            </a:r>
            <a:r>
              <a:rPr lang="en-US" sz="1600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技术本应是延伸人类能力的工具，而在此案例中，人却沦为了服务于算法的</a:t>
            </a:r>
            <a:r>
              <a:rPr 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“</a:t>
            </a:r>
            <a:r>
              <a:rPr lang="en-US" sz="1600" dirty="0" err="1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生物机器</a:t>
            </a:r>
            <a:r>
              <a:rPr 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”。</a:t>
            </a:r>
          </a:p>
          <a:p>
            <a:pPr algn="l">
              <a:lnSpc>
                <a:spcPct val="140000"/>
              </a:lnSpc>
              <a:buClrTx/>
              <a:buSzTx/>
              <a:buFontTx/>
              <a:defRPr/>
            </a:pPr>
            <a:r>
              <a:rPr lang="en-US" sz="2000" dirty="0">
                <a:solidFill>
                  <a:srgbClr val="3C3C3C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 panose="020B0200000000000000" charset="-122"/>
                <a:sym typeface="+mn-ea"/>
              </a:rPr>
              <a:t>·</a:t>
            </a: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异化表现：</a:t>
            </a:r>
          </a:p>
          <a:p>
            <a:pPr algn="l">
              <a:lnSpc>
                <a:spcPct val="140000"/>
              </a:lnSpc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</a:t>
            </a:r>
            <a:r>
              <a:rPr lang="en-US" altLang="zh-CN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1</a:t>
            </a: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）行为被完全规训：拣货路径、动作秒数被算法强制规定，员工失去了任何自主决策空间。</a:t>
            </a:r>
          </a:p>
          <a:p>
            <a:pPr algn="l">
              <a:lnSpc>
                <a:spcPct val="140000"/>
              </a:lnSpc>
              <a:buClrTx/>
              <a:buSzTx/>
              <a:buFontTx/>
              <a:defRPr/>
            </a:pP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</a:t>
            </a:r>
            <a:r>
              <a:rPr lang="en-US" altLang="zh-CN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2</a:t>
            </a: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）</a:t>
            </a: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价值被单一量化：人的全部价值被简化为 “完成任务的速度与数量”，情感、创造力和个体差异被彻底剥离。</a:t>
            </a:r>
          </a:p>
          <a:p>
            <a:pPr algn="l">
              <a:lnSpc>
                <a:spcPct val="140000"/>
              </a:lnSpc>
              <a:buClrTx/>
              <a:buSzTx/>
              <a:buFontTx/>
              <a:defRPr/>
            </a:pPr>
            <a:r>
              <a:rPr lang="en-US" sz="2000" dirty="0">
                <a:solidFill>
                  <a:srgbClr val="3C3C3C"/>
                </a:solidFill>
                <a:latin typeface="仿宋" panose="02010609060101010101" pitchFamily="49" charset="-122"/>
                <a:ea typeface="仿宋" panose="02010609060101010101" pitchFamily="49" charset="-122"/>
                <a:cs typeface="Noto Sans SC" panose="020B0200000000000000" charset="-122"/>
                <a:sym typeface="+mn-ea"/>
              </a:rPr>
              <a:t>·</a:t>
            </a: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劳动者在系统中被降格为可随时替换的标准化零件，</a:t>
            </a:r>
            <a:r>
              <a:rPr lang="zh-CN" altLang="en-US" sz="1600" b="1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人的主体性被算法彻底消解</a:t>
            </a:r>
            <a:r>
              <a:rPr lang="zh-CN" altLang="en-US" sz="1600" dirty="0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5010" y="961390"/>
            <a:ext cx="2269490" cy="117729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7535" y="3620452"/>
            <a:ext cx="2655965" cy="1298681"/>
          </a:xfrm>
          <a:prstGeom prst="rect">
            <a:avLst/>
          </a:prstGeom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2DE07E7A-62FA-CBEB-E6CB-3E9B2005C50D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案例一伦理分析：</a:t>
            </a:r>
            <a:r>
              <a:rPr lang="en-US" altLang="zh-CN" sz="3200" b="1" dirty="0" err="1">
                <a:solidFill>
                  <a:srgbClr val="0C3468"/>
                </a:solidFill>
                <a:latin typeface="Noto Sans SC" panose="020B0200000000000000" charset="-122"/>
                <a:ea typeface="Noto Sans SC" panose="020B0200000000000000" charset="-122"/>
              </a:rPr>
              <a:t>算法规训下的劳动异化</a:t>
            </a:r>
            <a:endParaRPr lang="en-US" altLang="zh-CN" sz="3200" b="1" dirty="0">
              <a:solidFill>
                <a:srgbClr val="0C3468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26415" y="1590675"/>
            <a:ext cx="11074400" cy="4721860"/>
          </a:xfrm>
          <a:prstGeom prst="rect">
            <a:avLst/>
          </a:prstGeom>
          <a:solidFill>
            <a:srgbClr val="F3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3" name="矩形 2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7" name="AutoShape 4"/>
          <p:cNvSpPr/>
          <p:nvPr>
            <p:custDataLst>
              <p:tags r:id="rId1"/>
            </p:custDataLst>
          </p:nvPr>
        </p:nvSpPr>
        <p:spPr>
          <a:xfrm>
            <a:off x="822960" y="1849120"/>
            <a:ext cx="3302000" cy="41592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6"/>
          <p:cNvSpPr/>
          <p:nvPr>
            <p:custDataLst>
              <p:tags r:id="rId2"/>
            </p:custDataLst>
          </p:nvPr>
        </p:nvSpPr>
        <p:spPr>
          <a:xfrm>
            <a:off x="1013460" y="3564255"/>
            <a:ext cx="2921000" cy="22834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动态定价</a:t>
            </a:r>
            <a:r>
              <a:rPr lang="en-US" sz="1600" b="1" i="0" u="none" strike="noStrike" dirty="0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(Surge Pricing)</a:t>
            </a:r>
            <a:endParaRPr lang="en-US" sz="1100" dirty="0"/>
          </a:p>
          <a:p>
            <a:pPr indent="0" algn="l" fontAlgn="auto">
              <a:lnSpc>
                <a:spcPct val="130000"/>
              </a:lnSpc>
              <a:spcBef>
                <a:spcPts val="800"/>
              </a:spcBef>
            </a:pPr>
            <a:r>
              <a:rPr lang="zh-CN" altLang="en-US" sz="1400" b="0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滴滴、高德等主流网约车平台在雨天等打车难的高峰期，价格可飙升至平日数倍，常被指责为“趁火打劫”。背后是</a:t>
            </a:r>
            <a:r>
              <a:rPr lang="zh-CN" altLang="en-US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算法基于实时供需关系自动调节价格。</a:t>
            </a:r>
            <a:endParaRPr lang="zh-CN" altLang="en-US" sz="14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7"/>
          <p:cNvSpPr/>
          <p:nvPr>
            <p:custDataLst>
              <p:tags r:id="rId3"/>
            </p:custDataLst>
          </p:nvPr>
        </p:nvSpPr>
        <p:spPr>
          <a:xfrm>
            <a:off x="4505960" y="1849120"/>
            <a:ext cx="3302000" cy="415988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9"/>
          <p:cNvSpPr/>
          <p:nvPr>
            <p:custDataLst>
              <p:tags r:id="rId4"/>
            </p:custDataLst>
          </p:nvPr>
        </p:nvSpPr>
        <p:spPr>
          <a:xfrm>
            <a:off x="4696460" y="3776980"/>
            <a:ext cx="2921000" cy="1988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派单与奖惩控制</a:t>
            </a:r>
            <a:endParaRPr lang="en-US" sz="1100"/>
          </a:p>
          <a:p>
            <a:pPr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</a:pP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派单逻辑：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基于乘客/司机位置、预估时间、评分及接单率等多重数据决定派单对象。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zh-CN" altLang="en-US" sz="140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行为引导：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利用“冲单奖”、“服务分”等激励司机上线，拒绝订单过多或接单率过低则面临惩罚。</a:t>
            </a:r>
          </a:p>
        </p:txBody>
      </p:sp>
      <p:sp>
        <p:nvSpPr>
          <p:cNvPr id="14" name="AutoShape 10"/>
          <p:cNvSpPr/>
          <p:nvPr>
            <p:custDataLst>
              <p:tags r:id="rId5"/>
            </p:custDataLst>
          </p:nvPr>
        </p:nvSpPr>
        <p:spPr>
          <a:xfrm>
            <a:off x="8188960" y="1849120"/>
            <a:ext cx="3302000" cy="41592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2"/>
          <p:cNvSpPr/>
          <p:nvPr>
            <p:custDataLst>
              <p:tags r:id="rId6"/>
            </p:custDataLst>
          </p:nvPr>
        </p:nvSpPr>
        <p:spPr>
          <a:xfrm>
            <a:off x="8379460" y="3481070"/>
            <a:ext cx="2921000" cy="2527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数据洞察：算法的“软控制”</a:t>
            </a:r>
            <a:endParaRPr lang="en-US" sz="1100"/>
          </a:p>
          <a:p>
            <a:pPr algn="l">
              <a:lnSpc>
                <a:spcPct val="130000"/>
              </a:lnSpc>
              <a:spcBef>
                <a:spcPts val="800"/>
              </a:spcBef>
              <a:buClrTx/>
              <a:buSzTx/>
              <a:buFontTx/>
            </a:pP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司机看似拥有“接单自由”，实则被平台的算法评分和奖励机制深度“绑架”。为了维持生计与良好的服务分，不得不被迫接受平台分配的、可能并不划算的订单，丧失了真正的议价权。</a:t>
            </a:r>
          </a:p>
        </p:txBody>
      </p:sp>
      <p:sp>
        <p:nvSpPr>
          <p:cNvPr id="18" name="AutoShape 3"/>
          <p:cNvSpPr/>
          <p:nvPr/>
        </p:nvSpPr>
        <p:spPr>
          <a:xfrm>
            <a:off x="822960" y="995680"/>
            <a:ext cx="10668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2200" b="1" i="0" u="none" strike="noStrike">
                <a:solidFill>
                  <a:srgbClr val="0D47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“自由”司机背后的隐形枷锁</a:t>
            </a:r>
            <a:endParaRPr lang="en-US" sz="2200" b="1">
              <a:solidFill>
                <a:srgbClr val="0D47A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Picture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2"/>
          <a:srcRect t="15217" b="15217"/>
          <a:stretch>
            <a:fillRect/>
          </a:stretch>
        </p:blipFill>
        <p:spPr>
          <a:xfrm>
            <a:off x="4696460" y="2091690"/>
            <a:ext cx="2921000" cy="156464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9" name="图片 1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3"/>
          <a:srcRect t="9564" b="9235"/>
          <a:stretch>
            <a:fillRect/>
          </a:stretch>
        </p:blipFill>
        <p:spPr>
          <a:xfrm>
            <a:off x="1141095" y="2091690"/>
            <a:ext cx="2665095" cy="156464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/>
          <a:srcRect l="1004" t="39102" r="2869" b="38084"/>
          <a:stretch>
            <a:fillRect/>
          </a:stretch>
        </p:blipFill>
        <p:spPr>
          <a:xfrm>
            <a:off x="8365490" y="2091690"/>
            <a:ext cx="2978785" cy="1564640"/>
          </a:xfrm>
          <a:prstGeom prst="rect">
            <a:avLst/>
          </a:prstGeom>
        </p:spPr>
      </p:pic>
      <p:sp>
        <p:nvSpPr>
          <p:cNvPr id="12" name="AutoShape 2">
            <a:extLst>
              <a:ext uri="{FF2B5EF4-FFF2-40B4-BE49-F238E27FC236}">
                <a16:creationId xmlns:a16="http://schemas.microsoft.com/office/drawing/2014/main" id="{29CBF4EB-F5FB-B889-7BF2-2DF722C4E280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案例二：网约车动态定价与派单公平</a:t>
            </a:r>
            <a:endParaRPr lang="en-US" altLang="zh-CN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BF89901-596D-7DC2-22B9-5C9D1B352F2B}"/>
              </a:ext>
            </a:extLst>
          </p:cNvPr>
          <p:cNvSpPr/>
          <p:nvPr/>
        </p:nvSpPr>
        <p:spPr>
          <a:xfrm>
            <a:off x="517263" y="4732866"/>
            <a:ext cx="11074341" cy="1335423"/>
          </a:xfrm>
          <a:prstGeom prst="round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32509" y="415637"/>
            <a:ext cx="8035637" cy="411017"/>
            <a:chOff x="387927" y="452582"/>
            <a:chExt cx="8035637" cy="411017"/>
          </a:xfrm>
        </p:grpSpPr>
        <p:sp>
          <p:nvSpPr>
            <p:cNvPr id="2" name="矩形 1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矩形 2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5" name="直接连接符 4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7" name="AutoShape 2">
            <a:extLst>
              <a:ext uri="{FF2B5EF4-FFF2-40B4-BE49-F238E27FC236}">
                <a16:creationId xmlns:a16="http://schemas.microsoft.com/office/drawing/2014/main" id="{61710D07-D680-90CB-2373-0BFB26A6E2E3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3200" b="1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sym typeface="Noto Sans SC" panose="020B0200000000000000" charset="-122"/>
              </a:rPr>
              <a:t>案例二伦理分析：公平与透明的缺失</a:t>
            </a:r>
            <a:endParaRPr lang="en-US" altLang="zh-CN" sz="3200" b="1" dirty="0">
              <a:solidFill>
                <a:srgbClr val="0A316C"/>
              </a:solidFill>
              <a:latin typeface="Noto Sans SC" panose="020B0200000000000000" charset="-122"/>
              <a:ea typeface="Noto Sans SC" panose="020B0200000000000000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C329AE4-BC1A-901B-939E-DA9722D69EC1}"/>
              </a:ext>
            </a:extLst>
          </p:cNvPr>
          <p:cNvSpPr/>
          <p:nvPr/>
        </p:nvSpPr>
        <p:spPr>
          <a:xfrm>
            <a:off x="526473" y="2376860"/>
            <a:ext cx="11074341" cy="1991940"/>
          </a:xfrm>
          <a:prstGeom prst="roundRect">
            <a:avLst/>
          </a:prstGeom>
          <a:solidFill>
            <a:srgbClr val="F3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AutoShape 6">
            <a:extLst>
              <a:ext uri="{FF2B5EF4-FFF2-40B4-BE49-F238E27FC236}">
                <a16:creationId xmlns:a16="http://schemas.microsoft.com/office/drawing/2014/main" id="{FDA004B7-E781-846C-8825-351C7605126F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20435" y="1424482"/>
            <a:ext cx="10667999" cy="122453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/>
            </a:pPr>
            <a:r>
              <a:rPr lang="en-US" altLang="zh-CN" dirty="0">
                <a:solidFill>
                  <a:srgbClr val="3C3C3C"/>
                </a:solidFill>
                <a:ea typeface="Noto Sans SC" panose="020B0200000000000000" charset="-122"/>
                <a:sym typeface="Noto Sans SC"/>
              </a:rPr>
              <a:t>网约车算法是典型的商业“黑箱”，其定价逻辑、派单规则、抽成计算方式等核心信息对用户和司机都不透明，这种“暗箱操作”导致了严重的信息不对称，并由此引发了平台与用户、司机之间巨大的权力失衡。</a:t>
            </a:r>
            <a:endParaRPr lang="en-US" altLang="zh-CN" dirty="0">
              <a:solidFill>
                <a:srgbClr val="374151"/>
              </a:solidFill>
              <a:ea typeface="Noto Sans SC"/>
              <a:sym typeface="Noto Sans SC"/>
            </a:endParaRPr>
          </a:p>
          <a:p>
            <a:pPr indent="432000">
              <a:defRPr/>
            </a:pPr>
            <a:endParaRPr lang="en-US" altLang="zh-CN" dirty="0"/>
          </a:p>
        </p:txBody>
      </p:sp>
      <p:sp>
        <p:nvSpPr>
          <p:cNvPr id="11" name="AutoShape 8">
            <a:extLst>
              <a:ext uri="{FF2B5EF4-FFF2-40B4-BE49-F238E27FC236}">
                <a16:creationId xmlns:a16="http://schemas.microsoft.com/office/drawing/2014/main" id="{B7D7DBD3-8678-073F-EF1F-40A6CB949ABB}"/>
              </a:ext>
            </a:extLst>
          </p:cNvPr>
          <p:cNvSpPr/>
          <p:nvPr/>
        </p:nvSpPr>
        <p:spPr>
          <a:xfrm>
            <a:off x="895927" y="2657478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💡 定价“</a:t>
            </a:r>
            <a:r>
              <a:rPr lang="en-US" sz="1800" b="1" i="0" u="none" strike="noStrike" dirty="0" err="1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黑箱</a:t>
            </a:r>
            <a:r>
              <a:rPr lang="en-US" sz="1800" b="1" i="0" u="none" strike="noStrike" dirty="0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”：</a:t>
            </a:r>
            <a:r>
              <a:rPr lang="en-US" sz="1800" b="1" i="0" u="none" strike="noStrike" dirty="0" err="1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看不见的溢价逻辑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b="0" i="0" u="none" strike="noStrike" dirty="0">
                <a:solidFill>
                  <a:srgbClr val="1F2937"/>
                </a:solidFill>
                <a:ea typeface="Noto Sans SC"/>
                <a:cs typeface="Noto Sans SC"/>
                <a:sym typeface="Noto Sans SC"/>
              </a:rPr>
              <a:t>乘客无法确切知晓动态溢价的计算因子和实时供需数据，平台拥有解释权，甚至可能虚构“供需紧张”的场景来诱导用户接受不合理溢价，利用信息差获取超额利润。</a:t>
            </a:r>
          </a:p>
        </p:txBody>
      </p:sp>
      <p:sp>
        <p:nvSpPr>
          <p:cNvPr id="13" name="AutoShape 10">
            <a:extLst>
              <a:ext uri="{FF2B5EF4-FFF2-40B4-BE49-F238E27FC236}">
                <a16:creationId xmlns:a16="http://schemas.microsoft.com/office/drawing/2014/main" id="{04836B46-E211-699B-B563-371C8B91EFAE}"/>
              </a:ext>
            </a:extLst>
          </p:cNvPr>
          <p:cNvSpPr/>
          <p:nvPr/>
        </p:nvSpPr>
        <p:spPr>
          <a:xfrm>
            <a:off x="6216073" y="2649011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 dirty="0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🚕 派单“</a:t>
            </a:r>
            <a:r>
              <a:rPr lang="en-US" sz="1800" b="1" i="0" u="none" strike="noStrike" dirty="0" err="1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黑箱</a:t>
            </a:r>
            <a:r>
              <a:rPr lang="en-US" sz="1800" b="1" i="0" u="none" strike="noStrike" dirty="0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”：</a:t>
            </a:r>
            <a:r>
              <a:rPr lang="en-US" sz="1800" b="1" i="0" u="none" strike="noStrike" dirty="0" err="1">
                <a:solidFill>
                  <a:srgbClr val="003F88"/>
                </a:solidFill>
                <a:latin typeface="Noto Sans SC"/>
                <a:ea typeface="Noto Sans SC"/>
                <a:cs typeface="Noto Sans SC"/>
                <a:sym typeface="Noto Sans SC"/>
              </a:rPr>
              <a:t>被算法支配的选择权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800"/>
              </a:spcBef>
            </a:pPr>
            <a:r>
              <a:rPr lang="en-US" sz="1600" dirty="0">
                <a:solidFill>
                  <a:srgbClr val="1F2937"/>
                </a:solidFill>
                <a:ea typeface="Noto Sans SC"/>
                <a:sym typeface="Noto Sans SC"/>
              </a:rPr>
              <a:t>司机无法预测和干预订单分配，平台可能利用规则不透明实施“定向派单”以平衡运力，或对拒绝低价订单的司机进行“隐形降权”等惩罚，司机在劳动选择上丧失了主动权。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DE4C4E08-3FF3-51E6-F4B5-D004EA8B08DD}"/>
              </a:ext>
            </a:extLst>
          </p:cNvPr>
          <p:cNvSpPr txBox="1"/>
          <p:nvPr/>
        </p:nvSpPr>
        <p:spPr>
          <a:xfrm>
            <a:off x="655781" y="4884167"/>
            <a:ext cx="10571019" cy="8740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800" b="1" dirty="0" err="1">
                <a:solidFill>
                  <a:srgbClr val="FDFFFF"/>
                </a:solidFill>
                <a:latin typeface="+mn-ea"/>
                <a:cs typeface="Noto Sans SC"/>
                <a:sym typeface="Noto Sans SC"/>
              </a:rPr>
              <a:t>这种不透明性剥夺了用户和司机的有效监督与问责能力，赋予了平台近乎绝对的“规则制定权</a:t>
            </a:r>
            <a:r>
              <a:rPr lang="en-US" altLang="zh-CN" sz="1800" b="1" dirty="0">
                <a:solidFill>
                  <a:srgbClr val="FDFFFF"/>
                </a:solidFill>
                <a:latin typeface="+mn-ea"/>
                <a:cs typeface="Noto Sans SC"/>
                <a:sym typeface="Noto Sans SC"/>
              </a:rPr>
              <a:t>”</a:t>
            </a:r>
            <a:endParaRPr lang="en-US" altLang="zh-CN" b="1" dirty="0">
              <a:solidFill>
                <a:srgbClr val="FDFFFF"/>
              </a:solidFill>
              <a:latin typeface="+mn-ea"/>
              <a:cs typeface="Noto Sans SC"/>
              <a:sym typeface="Noto Sans SC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zh-CN" sz="1800" b="1" dirty="0">
                <a:solidFill>
                  <a:srgbClr val="FDFFFF"/>
                </a:solidFill>
                <a:latin typeface="+mn-ea"/>
                <a:cs typeface="Noto Sans SC"/>
                <a:sym typeface="Noto Sans SC"/>
              </a:rPr>
              <a:t>单方面制定的“游戏规则”，</a:t>
            </a:r>
            <a:r>
              <a:rPr lang="en-US" altLang="zh-CN" sz="1800" b="1" dirty="0" err="1">
                <a:solidFill>
                  <a:srgbClr val="FDFFFF"/>
                </a:solidFill>
                <a:latin typeface="+mn-ea"/>
                <a:cs typeface="Noto Sans SC"/>
                <a:sym typeface="Noto Sans SC"/>
              </a:rPr>
              <a:t>正一步步侵蚀着市场经济中的公平交易原则与参与者的基本权益</a:t>
            </a:r>
            <a:endParaRPr lang="en-US" altLang="zh-CN" sz="1800" b="1" dirty="0">
              <a:solidFill>
                <a:srgbClr val="FDFFFF"/>
              </a:solidFill>
              <a:latin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26415" y="1561465"/>
            <a:ext cx="11308080" cy="500253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AutoShape 3"/>
          <p:cNvSpPr/>
          <p:nvPr/>
        </p:nvSpPr>
        <p:spPr>
          <a:xfrm>
            <a:off x="695325" y="105664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25000"/>
              </a:lnSpc>
              <a:buClrTx/>
              <a:buSzTx/>
              <a:buFontTx/>
              <a:defRPr/>
            </a:pPr>
            <a:r>
              <a:rPr lang="en-US" sz="2200" b="1" i="0" u="none" strike="noStrike">
                <a:solidFill>
                  <a:srgbClr val="0D47A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被精心设计的“数字牢笼”</a:t>
            </a:r>
          </a:p>
        </p:txBody>
      </p:sp>
      <p:sp>
        <p:nvSpPr>
          <p:cNvPr id="4" name="AutoShape 4"/>
          <p:cNvSpPr/>
          <p:nvPr/>
        </p:nvSpPr>
        <p:spPr>
          <a:xfrm>
            <a:off x="762000" y="1921510"/>
            <a:ext cx="5207000" cy="4442460"/>
          </a:xfrm>
          <a:prstGeom prst="roundRect">
            <a:avLst>
              <a:gd name="adj" fmla="val 3636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C4F9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160270"/>
            <a:ext cx="4699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C4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运作机制 MECHANISM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2794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748915"/>
            <a:ext cx="4191000" cy="10356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精准画像</a:t>
            </a:r>
            <a:endParaRPr lang="en-US" sz="1600"/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利用协同过滤与深度学习，捕捉每一次点击与停留，构建毫米级精准的用户偏好模型。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3873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24000" y="39116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ClrTx/>
              <a:buSzTx/>
              <a:buFontTx/>
              <a:defRPr/>
            </a:pPr>
            <a:r>
              <a:rPr lang="en-US" sz="1600" b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无限</a:t>
            </a: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反馈循环 </a:t>
            </a:r>
            <a:endParaRPr 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“无限下拉”与“自动播放”功能彻底消除了用户的自然停止点，让滑动成为无意识的肌肉记忆。</a:t>
            </a:r>
          </a:p>
        </p:txBody>
      </p:sp>
      <p:sp>
        <p:nvSpPr>
          <p:cNvPr id="10" name="AutoShape 10"/>
          <p:cNvSpPr/>
          <p:nvPr>
            <p:custDataLst>
              <p:tags r:id="rId1"/>
            </p:custDataLst>
          </p:nvPr>
        </p:nvSpPr>
        <p:spPr>
          <a:xfrm>
            <a:off x="1016000" y="4953000"/>
            <a:ext cx="2286000" cy="1316990"/>
          </a:xfrm>
          <a:prstGeom prst="roundRect">
            <a:avLst>
              <a:gd name="adj" fmla="val 8421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>
            <p:custDataLst>
              <p:tags r:id="rId2"/>
            </p:custDataLst>
          </p:nvPr>
        </p:nvSpPr>
        <p:spPr>
          <a:xfrm>
            <a:off x="1145540" y="5198745"/>
            <a:ext cx="2092960" cy="89725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间歇性强化</a:t>
            </a:r>
            <a:endParaRPr 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indent="0" algn="l" fontAlgn="auto">
              <a:lnSpc>
                <a:spcPct val="130000"/>
              </a:lnSpc>
              <a:buClrTx/>
              <a:buSzTx/>
              <a:buFontTx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社交点赞如同老虎机奖励，随机且不可控，持续刺激多巴胺分泌。</a:t>
            </a:r>
          </a:p>
        </p:txBody>
      </p:sp>
      <p:sp>
        <p:nvSpPr>
          <p:cNvPr id="13" name="AutoShape 13"/>
          <p:cNvSpPr/>
          <p:nvPr>
            <p:custDataLst>
              <p:tags r:id="rId3"/>
            </p:custDataLst>
          </p:nvPr>
        </p:nvSpPr>
        <p:spPr>
          <a:xfrm>
            <a:off x="3429000" y="4953000"/>
            <a:ext cx="2286000" cy="1316990"/>
          </a:xfrm>
          <a:prstGeom prst="roundRect">
            <a:avLst>
              <a:gd name="adj" fmla="val 8421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>
            <p:custDataLst>
              <p:tags r:id="rId4"/>
            </p:custDataLst>
          </p:nvPr>
        </p:nvSpPr>
        <p:spPr>
          <a:xfrm>
            <a:off x="3589020" y="5066030"/>
            <a:ext cx="2062480" cy="11487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l">
              <a:lnSpc>
                <a:spcPct val="100000"/>
              </a:lnSpc>
              <a:buClrTx/>
              <a:buSzTx/>
              <a:buFontTx/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情绪投喂</a:t>
            </a:r>
            <a:endParaRPr lang="en-US" sz="1600" b="1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持续推送高情绪价值内容，最大化停留时长，直至精神与注意力枯竭。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/>
          <a:srcRect t="14285" b="14285"/>
          <a:stretch>
            <a:fillRect/>
          </a:stretch>
        </p:blipFill>
        <p:spPr>
          <a:xfrm>
            <a:off x="6223000" y="2159000"/>
            <a:ext cx="2667000" cy="1905000"/>
          </a:xfrm>
          <a:prstGeom prst="rect">
            <a:avLst/>
          </a:prstGeom>
          <a:noFill/>
          <a:ln w="25400" cap="flat" cmpd="sng">
            <a:solidFill>
              <a:srgbClr val="1C4F94">
                <a:alpha val="100000"/>
              </a:srgbClr>
            </a:solidFill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0"/>
          <a:srcRect l="3308" r="3308"/>
          <a:stretch>
            <a:fillRect/>
          </a:stretch>
        </p:blipFill>
        <p:spPr>
          <a:xfrm>
            <a:off x="9017000" y="2159000"/>
            <a:ext cx="2667000" cy="1905000"/>
          </a:xfrm>
          <a:prstGeom prst="rect">
            <a:avLst/>
          </a:prstGeom>
          <a:noFill/>
          <a:ln w="25400" cap="flat" cmpd="sng">
            <a:solidFill>
              <a:srgbClr val="1C4F94">
                <a:alpha val="100000"/>
              </a:srgbClr>
            </a:solidFill>
            <a:prstDash val="solid"/>
            <a:round/>
          </a:ln>
        </p:spPr>
      </p:pic>
      <p:sp>
        <p:nvSpPr>
          <p:cNvPr id="18" name="AutoShape 18"/>
          <p:cNvSpPr/>
          <p:nvPr/>
        </p:nvSpPr>
        <p:spPr>
          <a:xfrm>
            <a:off x="6223000" y="4318000"/>
            <a:ext cx="5461000" cy="2032000"/>
          </a:xfrm>
          <a:prstGeom prst="roundRect">
            <a:avLst>
              <a:gd name="adj" fmla="val 750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1C4F94">
                <a:alpha val="10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6223000" y="4546600"/>
            <a:ext cx="177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C4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2.5 h+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日均社交媒体时长</a:t>
            </a:r>
          </a:p>
        </p:txBody>
      </p:sp>
      <p:sp>
        <p:nvSpPr>
          <p:cNvPr id="20" name="AutoShape 20"/>
          <p:cNvSpPr/>
          <p:nvPr/>
        </p:nvSpPr>
        <p:spPr>
          <a:xfrm>
            <a:off x="8065770" y="4673600"/>
            <a:ext cx="343090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</a:t>
            </a:r>
            <a:r>
              <a:rPr lang="en-US" sz="1600" b="1" i="0" u="none" strike="noStrike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睡前再刷五分钟，抬头已是后半夜</a:t>
            </a:r>
            <a:r>
              <a:rPr lang="en-US" sz="1600" b="1" i="0" u="none" strike="noStrike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1600" dirty="0"/>
          </a:p>
          <a:p>
            <a:pPr indent="0" algn="l" fontAlgn="auto">
              <a:lnSpc>
                <a:spcPct val="150000"/>
              </a:lnSpc>
            </a:pPr>
            <a:r>
              <a:rPr lang="en-US" sz="14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400" b="0" i="0" u="none" strike="noStrike" dirty="0" err="1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无数用户经历的典型场景，揭示了算法在时间黑洞构建上的惊人效率。我们以为是自己在“刷”手机，实则是算法在“刷”我们</a:t>
            </a:r>
            <a:r>
              <a:rPr lang="en-US" sz="1400" b="0" i="0" u="none" strike="noStrike" dirty="0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332740" y="415925"/>
            <a:ext cx="8613140" cy="410845"/>
            <a:chOff x="387927" y="452582"/>
            <a:chExt cx="8035637" cy="411017"/>
          </a:xfrm>
        </p:grpSpPr>
        <p:sp>
          <p:nvSpPr>
            <p:cNvPr id="24" name="矩形 23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AutoShape 2">
            <a:extLst>
              <a:ext uri="{FF2B5EF4-FFF2-40B4-BE49-F238E27FC236}">
                <a16:creationId xmlns:a16="http://schemas.microsoft.com/office/drawing/2014/main" id="{551118C3-6DA2-68A8-2C72-1B29918B3D73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800" b="1" dirty="0" err="1">
                <a:solidFill>
                  <a:srgbClr val="1C4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案例三：社交媒体“多巴胺算法”下的成瘾性工程</a:t>
            </a: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526415" y="1561465"/>
            <a:ext cx="11226800" cy="500253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AutoShape 5"/>
          <p:cNvSpPr/>
          <p:nvPr/>
        </p:nvSpPr>
        <p:spPr>
          <a:xfrm>
            <a:off x="762000" y="1866265"/>
            <a:ext cx="5333365" cy="1372235"/>
          </a:xfrm>
          <a:prstGeom prst="roundRect">
            <a:avLst>
              <a:gd name="adj" fmla="val 9411"/>
            </a:avLst>
          </a:prstGeom>
          <a:solidFill>
            <a:srgbClr val="F0F5FA">
              <a:alpha val="100000"/>
            </a:srgbClr>
          </a:solidFill>
          <a:ln w="12700" cap="flat" cmpd="sng">
            <a:solidFill>
              <a:srgbClr val="0052A0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1894840"/>
            <a:ext cx="4826000" cy="121666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 fontAlgn="auto">
              <a:lnSpc>
                <a:spcPct val="130000"/>
              </a:lnSpc>
              <a:defRPr/>
            </a:pPr>
            <a:r>
              <a:rPr lang="en-US" sz="16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【事件概述】</a:t>
            </a: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2026年3月25日，美国洛杉矶高等法院作出里程碑式裁决，首次裁定社交媒体平台需为其产品的“成瘾性设计”承担法律责任。</a:t>
            </a:r>
            <a:endParaRPr lang="en-US" sz="1600"/>
          </a:p>
        </p:txBody>
      </p:sp>
      <p:sp>
        <p:nvSpPr>
          <p:cNvPr id="7" name="AutoShape 7"/>
          <p:cNvSpPr/>
          <p:nvPr/>
        </p:nvSpPr>
        <p:spPr>
          <a:xfrm>
            <a:off x="762000" y="3429000"/>
            <a:ext cx="2726055" cy="1813560"/>
          </a:xfrm>
          <a:prstGeom prst="roundRect">
            <a:avLst>
              <a:gd name="adj" fmla="val 6153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90905" y="3660775"/>
            <a:ext cx="2666365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指控与原告</a:t>
            </a:r>
            <a:endParaRPr lang="en-US" sz="1100"/>
          </a:p>
          <a:p>
            <a:pPr indent="0" algn="l" fontAlgn="auto">
              <a:lnSpc>
                <a:spcPct val="130000"/>
              </a:lnSpc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原告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：20岁女性，患重度抑郁与成瘾症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；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核心指控：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“无限滚动”与算法推荐构成</a:t>
            </a: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产品设计缺陷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，系刻意打造的“成瘾系统”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3766185" y="3429000"/>
            <a:ext cx="2380615" cy="1813560"/>
          </a:xfrm>
          <a:prstGeom prst="roundRect">
            <a:avLst>
              <a:gd name="adj" fmla="val 6153"/>
            </a:avLst>
          </a:prstGeom>
          <a:solidFill>
            <a:srgbClr val="F0F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3842385" y="3630295"/>
            <a:ext cx="228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证据与判决</a:t>
            </a:r>
            <a:endParaRPr lang="en-US" sz="1100"/>
          </a:p>
          <a:p>
            <a:pPr algn="l">
              <a:lnSpc>
                <a:spcPct val="130000"/>
              </a:lnSpc>
              <a:buClrTx/>
              <a:buSzTx/>
              <a:buFontTx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关键证据：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内部文件证实公司掩盖风险</a:t>
            </a:r>
            <a:r>
              <a:rPr lang="zh-CN" alt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。高层故意隐瞒风险，拒绝修改算法。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裁决结果：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认定过失，赔偿金额达</a:t>
            </a:r>
            <a:r>
              <a:rPr lang="en-US" sz="1400" b="1" i="0" u="none" strike="noStrike">
                <a:solidFill>
                  <a:srgbClr val="0052A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600万美元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480685"/>
            <a:ext cx="5334635" cy="1006475"/>
          </a:xfrm>
          <a:prstGeom prst="roundRect">
            <a:avLst>
              <a:gd name="adj" fmla="val 8421"/>
            </a:avLst>
          </a:prstGeom>
          <a:solidFill>
            <a:srgbClr val="0052A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952500" y="5607050"/>
            <a:ext cx="5018405" cy="72580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⚖️ 法律里程碑：</a:t>
            </a:r>
            <a:endParaRPr lang="en-US" sz="1100"/>
          </a:p>
          <a:p>
            <a:pPr indent="0" algn="l" fontAlgn="auto">
              <a:lnSpc>
                <a:spcPct val="130000"/>
              </a:lnSpc>
            </a:pP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明确将法律责任指向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产品设计本身</a:t>
            </a:r>
            <a:r>
              <a:rPr lang="en-US" sz="14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，打破了“技术中立”的避风港原则。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/>
          <a:srcRect l="6250" r="6250"/>
          <a:stretch>
            <a:fillRect/>
          </a:stretch>
        </p:blipFill>
        <p:spPr>
          <a:xfrm>
            <a:off x="6413500" y="1866265"/>
            <a:ext cx="2476500" cy="2032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4"/>
          <a:srcRect l="6250" r="6250"/>
          <a:stretch>
            <a:fillRect/>
          </a:stretch>
        </p:blipFill>
        <p:spPr>
          <a:xfrm>
            <a:off x="9207500" y="1866265"/>
            <a:ext cx="2476500" cy="2032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rcRect t="23333" b="23333"/>
          <a:stretch>
            <a:fillRect/>
          </a:stretch>
        </p:blipFill>
        <p:spPr>
          <a:xfrm>
            <a:off x="6413500" y="4088765"/>
            <a:ext cx="2476500" cy="2032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rcRect l="934" r="934"/>
          <a:stretch>
            <a:fillRect/>
          </a:stretch>
        </p:blipFill>
        <p:spPr>
          <a:xfrm>
            <a:off x="9207500" y="4088765"/>
            <a:ext cx="2476500" cy="2032000"/>
          </a:xfrm>
          <a:prstGeom prst="roundRect">
            <a:avLst>
              <a:gd name="adj" fmla="val 7500"/>
            </a:avLst>
          </a:prstGeom>
          <a:noFill/>
          <a:ln w="12700" cap="flat" cmpd="sng">
            <a:solidFill>
              <a:srgbClr val="C8C8C8">
                <a:alpha val="100000"/>
              </a:srgbClr>
            </a:solidFill>
            <a:prstDash val="solid"/>
            <a:round/>
          </a:ln>
        </p:spPr>
      </p:pic>
      <p:grpSp>
        <p:nvGrpSpPr>
          <p:cNvPr id="23" name="组合 22"/>
          <p:cNvGrpSpPr/>
          <p:nvPr/>
        </p:nvGrpSpPr>
        <p:grpSpPr>
          <a:xfrm>
            <a:off x="332740" y="415925"/>
            <a:ext cx="8613140" cy="410845"/>
            <a:chOff x="387927" y="452582"/>
            <a:chExt cx="8035637" cy="411017"/>
          </a:xfrm>
        </p:grpSpPr>
        <p:sp>
          <p:nvSpPr>
            <p:cNvPr id="24" name="矩形 23"/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/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6" name="直接连接符 25"/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" name="图片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17" name="AutoShape 2"/>
          <p:cNvSpPr/>
          <p:nvPr/>
        </p:nvSpPr>
        <p:spPr>
          <a:xfrm>
            <a:off x="687070" y="917575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2200" b="1" i="0" u="none" strike="noStrike">
                <a:solidFill>
                  <a:srgbClr val="1C4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社交巨头 </a:t>
            </a:r>
            <a:r>
              <a:rPr lang="en-US" altLang="zh-CN" sz="2200" b="1" i="0" u="none" strike="noStrike">
                <a:solidFill>
                  <a:srgbClr val="1C4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Meta </a:t>
            </a:r>
            <a:r>
              <a:rPr lang="zh-CN" altLang="en-US" sz="2200" b="1" i="0" u="none" strike="noStrike">
                <a:solidFill>
                  <a:srgbClr val="1C4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与谷歌“成瘾性算法”世纪诉讼案</a:t>
            </a: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11962159-87F0-D71C-6D94-EB5DDF2BF821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800" b="1" dirty="0" err="1">
                <a:solidFill>
                  <a:srgbClr val="1C4F9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案例三：社交媒体“多巴胺算法”下的成瘾性工程</a:t>
            </a:r>
            <a:endParaRPr lang="en-US" altLang="zh-CN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5FF083F6-8DD9-F4CE-6A12-714A41526BA1}"/>
              </a:ext>
            </a:extLst>
          </p:cNvPr>
          <p:cNvSpPr/>
          <p:nvPr/>
        </p:nvSpPr>
        <p:spPr>
          <a:xfrm>
            <a:off x="445241" y="1340074"/>
            <a:ext cx="11301518" cy="5017331"/>
          </a:xfrm>
          <a:prstGeom prst="rect">
            <a:avLst/>
          </a:prstGeom>
          <a:solidFill>
            <a:srgbClr val="F3F9F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AutoShape 4">
            <a:extLst>
              <a:ext uri="{FF2B5EF4-FFF2-40B4-BE49-F238E27FC236}">
                <a16:creationId xmlns:a16="http://schemas.microsoft.com/office/drawing/2014/main" id="{5B92CFED-0ADD-6AFC-F118-5AEE2C63DD28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746760" y="1764452"/>
            <a:ext cx="3302000" cy="41592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3" name="AutoShape 7">
            <a:extLst>
              <a:ext uri="{FF2B5EF4-FFF2-40B4-BE49-F238E27FC236}">
                <a16:creationId xmlns:a16="http://schemas.microsoft.com/office/drawing/2014/main" id="{B4ECC4C2-6B19-0B80-99AB-80E0D0CE93F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429760" y="1764452"/>
            <a:ext cx="3302000" cy="4159885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 dirty="0"/>
          </a:p>
        </p:txBody>
      </p:sp>
      <p:sp>
        <p:nvSpPr>
          <p:cNvPr id="12" name="AutoShape 6">
            <a:extLst>
              <a:ext uri="{FF2B5EF4-FFF2-40B4-BE49-F238E27FC236}">
                <a16:creationId xmlns:a16="http://schemas.microsoft.com/office/drawing/2014/main" id="{F5D33A7E-3512-A595-97C0-0BCDE76EE8D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939800" y="3571662"/>
            <a:ext cx="2987042" cy="1948603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dirty="0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成瘾性与认知衰退</a:t>
            </a:r>
            <a:endParaRPr lang="en-US" sz="1100" dirty="0"/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altLang="zh-CN" sz="140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社交媒体对青少年大脑的伤害是可测量且不可逆的，使用时长越长，负责专注和情绪的前额叶区域皮质越薄</a:t>
            </a:r>
            <a:r>
              <a:rPr lang="zh-CN" altLang="en-US" sz="140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altLang="zh-CN" sz="1400" dirty="0">
              <a:solidFill>
                <a:srgbClr val="3C3C3C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altLang="zh-CN" sz="1400" dirty="0" err="1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日均使用超</a:t>
            </a:r>
            <a:r>
              <a:rPr lang="en-US" altLang="zh-CN" sz="1400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 3 小时，抑郁和焦虑风险增加2.1倍。</a:t>
            </a:r>
            <a:endParaRPr lang="en-US" altLang="zh-CN" sz="1100" dirty="0">
              <a:sym typeface="Noto Sans SC"/>
            </a:endParaRPr>
          </a:p>
        </p:txBody>
      </p:sp>
      <p:sp>
        <p:nvSpPr>
          <p:cNvPr id="14" name="AutoShape 9">
            <a:extLst>
              <a:ext uri="{FF2B5EF4-FFF2-40B4-BE49-F238E27FC236}">
                <a16:creationId xmlns:a16="http://schemas.microsoft.com/office/drawing/2014/main" id="{6715C779-9B77-955B-E1D7-978E0B11EDD3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20260" y="3692312"/>
            <a:ext cx="2921000" cy="19888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对隐私的侵犯</a:t>
            </a:r>
            <a:endParaRPr lang="en-US" sz="1100" dirty="0"/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为了实现精准推荐，平台收集用户的海量个人数据，构建精准画像，这构成了对用户隐私的巨大威胁</a:t>
            </a:r>
            <a:r>
              <a:rPr lang="en-US" altLang="zh-CN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。</a:t>
            </a:r>
            <a:endParaRPr lang="en-US" altLang="zh-CN" sz="1400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sym typeface="Noto Sans SC" panose="020B0200000000000000" charset="-122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用户在享受免费服务的同时，付出了自己的数据，成为了被“</a:t>
            </a:r>
            <a:r>
              <a:rPr lang="en-US" altLang="zh-CN" sz="1400" b="1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数据殖民</a:t>
            </a: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”的对象，其个人信息安全</a:t>
            </a:r>
            <a:r>
              <a:rPr lang="zh-CN" altLang="en-US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没有保障</a:t>
            </a:r>
            <a:r>
              <a:rPr lang="en-US" altLang="zh-CN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。</a:t>
            </a:r>
          </a:p>
        </p:txBody>
      </p:sp>
      <p:sp>
        <p:nvSpPr>
          <p:cNvPr id="15" name="AutoShape 10">
            <a:extLst>
              <a:ext uri="{FF2B5EF4-FFF2-40B4-BE49-F238E27FC236}">
                <a16:creationId xmlns:a16="http://schemas.microsoft.com/office/drawing/2014/main" id="{2728A09C-8CE7-0BB7-1B41-06884C9E93E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112760" y="1764452"/>
            <a:ext cx="3302000" cy="4159250"/>
          </a:xfrm>
          <a:prstGeom prst="roundRect">
            <a:avLst>
              <a:gd name="adj" fmla="val 461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6" name="AutoShape 12">
            <a:extLst>
              <a:ext uri="{FF2B5EF4-FFF2-40B4-BE49-F238E27FC236}">
                <a16:creationId xmlns:a16="http://schemas.microsoft.com/office/drawing/2014/main" id="{2C875D0C-B4AE-8720-0E8B-238BAC7B7EF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8303260" y="3396402"/>
            <a:ext cx="2921000" cy="25279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1600" b="1" dirty="0" err="1">
                <a:solidFill>
                  <a:srgbClr val="0A316C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对社会关系的撕裂</a:t>
            </a:r>
            <a:endParaRPr lang="en-US" altLang="zh-CN" sz="1600" b="1" dirty="0">
              <a:solidFill>
                <a:srgbClr val="0A316C"/>
              </a:solidFill>
              <a:latin typeface="Noto Sans SC" panose="020B0200000000000000" charset="-122"/>
              <a:ea typeface="Noto Sans SC" panose="020B0200000000000000" charset="-122"/>
              <a:sym typeface="Noto Sans SC"/>
            </a:endParaRP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算法为追求用户粘性，持续推荐同质化内容，导致用户视野被局限在</a:t>
            </a:r>
            <a:r>
              <a:rPr lang="zh-CN" altLang="en-US" sz="1400" b="1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信息茧房</a:t>
            </a:r>
            <a:r>
              <a:rPr lang="zh-CN" altLang="en-US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中</a:t>
            </a:r>
            <a:r>
              <a:rPr lang="en-US" altLang="zh-CN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，</a:t>
            </a:r>
            <a:r>
              <a:rPr lang="en-US" altLang="zh-CN" sz="1400" dirty="0" err="1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难以接触多元观点，造成认知的固化</a:t>
            </a:r>
            <a:r>
              <a:rPr lang="en-US" altLang="zh-CN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。</a:t>
            </a:r>
            <a:r>
              <a:rPr lang="zh-CN" altLang="en-US" sz="1400" dirty="0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sym typeface="Noto Sans SC"/>
              </a:rPr>
              <a:t>不同观点群体间的对立加剧，理性的沟通被削弱，最终损害了民主社会赖以生存的多元包容基础。</a:t>
            </a:r>
            <a:endParaRPr lang="zh-CN" altLang="en-US" sz="1400" b="0" i="0" u="none" strike="noStrike" dirty="0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0" name="图片 19" descr="酷炫大脑特效图，科技感满满超带感 表情包｜让你爹想想表情包图片gif动图 - 求表情网,斗图从此不求人!">
            <a:extLst>
              <a:ext uri="{FF2B5EF4-FFF2-40B4-BE49-F238E27FC236}">
                <a16:creationId xmlns:a16="http://schemas.microsoft.com/office/drawing/2014/main" id="{B22F564D-BE45-4DF9-960C-0F281ADC449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15440" y="2007022"/>
            <a:ext cx="1564640" cy="1564640"/>
          </a:xfrm>
          <a:prstGeom prst="rect">
            <a:avLst/>
          </a:prstGeom>
        </p:spPr>
      </p:pic>
      <p:pic>
        <p:nvPicPr>
          <p:cNvPr id="22" name="图片 21" descr="纪录片《社交困境》告诉你，在这个时代，最了解你的是谁|大数据|广告|社交媒体|手机|上瘾_新浪新闻">
            <a:extLst>
              <a:ext uri="{FF2B5EF4-FFF2-40B4-BE49-F238E27FC236}">
                <a16:creationId xmlns:a16="http://schemas.microsoft.com/office/drawing/2014/main" id="{4774E6B2-6953-FB67-61BF-1DA40A72D7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2857" y="1963221"/>
            <a:ext cx="2861805" cy="1608441"/>
          </a:xfrm>
          <a:prstGeom prst="rect">
            <a:avLst/>
          </a:prstGeom>
        </p:spPr>
      </p:pic>
      <p:pic>
        <p:nvPicPr>
          <p:cNvPr id="25" name="图片 24" descr="数字化时代，如何保证网络隐私安全？_数字化信息化隐私安全-CSDN博客">
            <a:extLst>
              <a:ext uri="{FF2B5EF4-FFF2-40B4-BE49-F238E27FC236}">
                <a16:creationId xmlns:a16="http://schemas.microsoft.com/office/drawing/2014/main" id="{27780517-F553-A639-8EE2-4BA11FE82CC0}"/>
              </a:ext>
            </a:extLst>
          </p:cNvPr>
          <p:cNvPicPr>
            <a:picLocks/>
          </p:cNvPicPr>
          <p:nvPr/>
        </p:nvPicPr>
        <p:blipFill>
          <a:blip r:embed="rId11"/>
          <a:srcRect t="11324" b="4568"/>
          <a:stretch>
            <a:fillRect/>
          </a:stretch>
        </p:blipFill>
        <p:spPr>
          <a:xfrm>
            <a:off x="4754522" y="2007022"/>
            <a:ext cx="2682956" cy="1564640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7F01FB56-A2AA-5009-80AD-8B1A633D87EA}"/>
              </a:ext>
            </a:extLst>
          </p:cNvPr>
          <p:cNvGrpSpPr/>
          <p:nvPr/>
        </p:nvGrpSpPr>
        <p:grpSpPr>
          <a:xfrm>
            <a:off x="332740" y="415925"/>
            <a:ext cx="8613140" cy="410845"/>
            <a:chOff x="387927" y="452582"/>
            <a:chExt cx="8035637" cy="41101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4B26191D-7A78-1E3F-C945-AECDC6A65DAA}"/>
                </a:ext>
              </a:extLst>
            </p:cNvPr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F8EF426F-9175-2260-6600-35D24EFC10E8}"/>
                </a:ext>
              </a:extLst>
            </p:cNvPr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512245D5-ADB9-A7D5-AECA-FC8A42B1EFA8}"/>
                </a:ext>
              </a:extLst>
            </p:cNvPr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utoShape 2">
            <a:extLst>
              <a:ext uri="{FF2B5EF4-FFF2-40B4-BE49-F238E27FC236}">
                <a16:creationId xmlns:a16="http://schemas.microsoft.com/office/drawing/2014/main" id="{217B400A-A440-5047-CDFB-D64E5D455DDB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800" b="1" dirty="0" err="1">
                <a:solidFill>
                  <a:srgbClr val="0D47A1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</a:t>
            </a:r>
            <a:r>
              <a:rPr lang="zh-CN" altLang="en-US" sz="2800" b="1" dirty="0">
                <a:solidFill>
                  <a:srgbClr val="0D47A1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</a:t>
            </a:r>
            <a:r>
              <a:rPr lang="en-US" altLang="zh-CN" sz="2800" b="1" dirty="0" err="1">
                <a:solidFill>
                  <a:srgbClr val="0D47A1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伦理分析</a:t>
            </a:r>
            <a:r>
              <a:rPr lang="zh-CN" altLang="en-US" sz="2800" b="1" dirty="0">
                <a:solidFill>
                  <a:srgbClr val="0D47A1"/>
                </a:solidFill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：心理健康、隐私与社会关系</a:t>
            </a:r>
            <a:endParaRPr lang="zh-CN" altLang="en-US" sz="2800" b="1" dirty="0">
              <a:solidFill>
                <a:srgbClr val="0D47A1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ABF27F7-78BC-0E9E-E024-6455D449048C}"/>
              </a:ext>
            </a:extLst>
          </p:cNvPr>
          <p:cNvSpPr txBox="1"/>
          <p:nvPr/>
        </p:nvSpPr>
        <p:spPr>
          <a:xfrm>
            <a:off x="794295" y="93668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22056D-CC04-449B-F129-0AA731C69EE7}"/>
              </a:ext>
            </a:extLst>
          </p:cNvPr>
          <p:cNvSpPr txBox="1"/>
          <p:nvPr/>
        </p:nvSpPr>
        <p:spPr>
          <a:xfrm>
            <a:off x="4490268" y="93668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3455B21-5AF7-1BBE-3078-B688CCEA78E7}"/>
              </a:ext>
            </a:extLst>
          </p:cNvPr>
          <p:cNvSpPr txBox="1"/>
          <p:nvPr/>
        </p:nvSpPr>
        <p:spPr>
          <a:xfrm>
            <a:off x="8226881" y="936683"/>
            <a:ext cx="87357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0" b="1" i="1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endParaRPr lang="zh-CN" altLang="en-US" sz="8000" b="1" i="1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2D70E-BED1-14C9-DE38-8E71F6E6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46FCD3DE-2921-EC88-D4D1-CC717E560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620B9B25-4132-EA2C-9907-64AC40CCFFBD}"/>
              </a:ext>
            </a:extLst>
          </p:cNvPr>
          <p:cNvGrpSpPr/>
          <p:nvPr/>
        </p:nvGrpSpPr>
        <p:grpSpPr>
          <a:xfrm>
            <a:off x="332740" y="415925"/>
            <a:ext cx="8613140" cy="410845"/>
            <a:chOff x="387927" y="452582"/>
            <a:chExt cx="8035637" cy="41101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A520CA2D-C086-D688-E4D4-B336A458106D}"/>
                </a:ext>
              </a:extLst>
            </p:cNvPr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7FB8CF6D-67A7-B4A6-6080-05F4C99827A7}"/>
                </a:ext>
              </a:extLst>
            </p:cNvPr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C721D247-787E-8CDF-6F75-57764F96C329}"/>
                </a:ext>
              </a:extLst>
            </p:cNvPr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utoShape 2">
            <a:extLst>
              <a:ext uri="{FF2B5EF4-FFF2-40B4-BE49-F238E27FC236}">
                <a16:creationId xmlns:a16="http://schemas.microsoft.com/office/drawing/2014/main" id="{9794415B-7B9C-BB7C-4FEF-53102FD37B9A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800" b="1" dirty="0" err="1">
                <a:solidFill>
                  <a:srgbClr val="0A316C"/>
                </a:solidFill>
                <a:latin typeface="Noto Sans SC"/>
                <a:ea typeface="Noto Sans SC"/>
                <a:cs typeface="Noto Sans SC"/>
                <a:sym typeface="Noto Sans SC"/>
              </a:rPr>
              <a:t>总结：算法伦理困境的共性</a:t>
            </a:r>
            <a:endParaRPr lang="zh-CN" altLang="en-US" sz="2800" b="1" dirty="0">
              <a:solidFill>
                <a:srgbClr val="0D47A1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AF22BDCE-7B2A-1A1F-6900-FBAB42D7697E}"/>
              </a:ext>
            </a:extLst>
          </p:cNvPr>
          <p:cNvSpPr/>
          <p:nvPr/>
        </p:nvSpPr>
        <p:spPr>
          <a:xfrm>
            <a:off x="558800" y="1250352"/>
            <a:ext cx="11074400" cy="5454269"/>
          </a:xfrm>
          <a:prstGeom prst="roundRect">
            <a:avLst>
              <a:gd name="adj" fmla="val 0"/>
            </a:avLst>
          </a:prstGeom>
          <a:solidFill>
            <a:srgbClr val="F3F9F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3" name="AutoShape 8">
            <a:extLst>
              <a:ext uri="{FF2B5EF4-FFF2-40B4-BE49-F238E27FC236}">
                <a16:creationId xmlns:a16="http://schemas.microsoft.com/office/drawing/2014/main" id="{B9AB435E-5995-0210-D0A6-88CCE07E048D}"/>
              </a:ext>
            </a:extLst>
          </p:cNvPr>
          <p:cNvSpPr/>
          <p:nvPr/>
        </p:nvSpPr>
        <p:spPr>
          <a:xfrm>
            <a:off x="828511" y="1480027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4" name="Picture 9">
            <a:extLst>
              <a:ext uri="{FF2B5EF4-FFF2-40B4-BE49-F238E27FC236}">
                <a16:creationId xmlns:a16="http://schemas.microsoft.com/office/drawing/2014/main" id="{ABDDF92F-0D1D-6CB6-0F0B-4BC787A37B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511" y="1734027"/>
            <a:ext cx="635000" cy="635000"/>
          </a:xfrm>
          <a:prstGeom prst="rect">
            <a:avLst/>
          </a:prstGeom>
        </p:spPr>
      </p:pic>
      <p:sp>
        <p:nvSpPr>
          <p:cNvPr id="5" name="AutoShape 10">
            <a:extLst>
              <a:ext uri="{FF2B5EF4-FFF2-40B4-BE49-F238E27FC236}">
                <a16:creationId xmlns:a16="http://schemas.microsoft.com/office/drawing/2014/main" id="{276AF475-3043-03E9-0135-F1370A6919B3}"/>
              </a:ext>
            </a:extLst>
          </p:cNvPr>
          <p:cNvSpPr/>
          <p:nvPr/>
        </p:nvSpPr>
        <p:spPr>
          <a:xfrm>
            <a:off x="1987221" y="2209189"/>
            <a:ext cx="3600779" cy="128166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25000"/>
              </a:lnSpc>
              <a:spcBef>
                <a:spcPts val="800"/>
              </a:spcBef>
            </a:pPr>
            <a:r>
              <a:rPr lang="en-US" sz="16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算法决策过程不透明，导致责任追溯困难，用户</a:t>
            </a:r>
            <a:r>
              <a:rPr lang="zh-CN" altLang="en-US" sz="16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难以察觉，</a:t>
            </a:r>
            <a:r>
              <a:rPr lang="en-US" sz="16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监管方无法进行有效监督</a:t>
            </a:r>
            <a:r>
              <a:rPr lang="en-US" sz="16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6" name="AutoShape 11">
            <a:extLst>
              <a:ext uri="{FF2B5EF4-FFF2-40B4-BE49-F238E27FC236}">
                <a16:creationId xmlns:a16="http://schemas.microsoft.com/office/drawing/2014/main" id="{ECF05A65-EE5B-9689-6630-72E788BE0948}"/>
              </a:ext>
            </a:extLst>
          </p:cNvPr>
          <p:cNvSpPr/>
          <p:nvPr/>
        </p:nvSpPr>
        <p:spPr>
          <a:xfrm>
            <a:off x="6226011" y="1480027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7" name="Picture 12">
            <a:extLst>
              <a:ext uri="{FF2B5EF4-FFF2-40B4-BE49-F238E27FC236}">
                <a16:creationId xmlns:a16="http://schemas.microsoft.com/office/drawing/2014/main" id="{44F89F70-DE21-4165-07F4-9018C1DD77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0011" y="1734027"/>
            <a:ext cx="635000" cy="635000"/>
          </a:xfrm>
          <a:prstGeom prst="rect">
            <a:avLst/>
          </a:prstGeom>
        </p:spPr>
      </p:pic>
      <p:sp>
        <p:nvSpPr>
          <p:cNvPr id="9" name="AutoShape 14">
            <a:extLst>
              <a:ext uri="{FF2B5EF4-FFF2-40B4-BE49-F238E27FC236}">
                <a16:creationId xmlns:a16="http://schemas.microsoft.com/office/drawing/2014/main" id="{A731B3F3-7D45-C9FD-734A-0378CAF2C90F}"/>
              </a:ext>
            </a:extLst>
          </p:cNvPr>
          <p:cNvSpPr/>
          <p:nvPr/>
        </p:nvSpPr>
        <p:spPr>
          <a:xfrm>
            <a:off x="828511" y="4083527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sp>
        <p:nvSpPr>
          <p:cNvPr id="19" name="AutoShape 17">
            <a:extLst>
              <a:ext uri="{FF2B5EF4-FFF2-40B4-BE49-F238E27FC236}">
                <a16:creationId xmlns:a16="http://schemas.microsoft.com/office/drawing/2014/main" id="{0D8BDEAB-AB81-0414-C709-2863E49B5C65}"/>
              </a:ext>
            </a:extLst>
          </p:cNvPr>
          <p:cNvSpPr/>
          <p:nvPr/>
        </p:nvSpPr>
        <p:spPr>
          <a:xfrm>
            <a:off x="6226011" y="4083527"/>
            <a:ext cx="5080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0A316C">
                <a:alpha val="60000"/>
              </a:srgbClr>
            </a:solidFill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algn="ctr">
              <a:defRPr/>
            </a:pPr>
            <a:endParaRPr/>
          </a:p>
        </p:txBody>
      </p:sp>
      <p:pic>
        <p:nvPicPr>
          <p:cNvPr id="23" name="Picture 18">
            <a:extLst>
              <a:ext uri="{FF2B5EF4-FFF2-40B4-BE49-F238E27FC236}">
                <a16:creationId xmlns:a16="http://schemas.microsoft.com/office/drawing/2014/main" id="{80E5B7CB-C911-D6BA-A9FC-E90DEB63D2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80011" y="4337527"/>
            <a:ext cx="635000" cy="635000"/>
          </a:xfrm>
          <a:prstGeom prst="rect">
            <a:avLst/>
          </a:prstGeom>
        </p:spPr>
      </p:pic>
      <p:sp>
        <p:nvSpPr>
          <p:cNvPr id="31" name="文本框 30">
            <a:extLst>
              <a:ext uri="{FF2B5EF4-FFF2-40B4-BE49-F238E27FC236}">
                <a16:creationId xmlns:a16="http://schemas.microsoft.com/office/drawing/2014/main" id="{6084BDDA-FBAE-FC65-F857-C6B44BDD5042}"/>
              </a:ext>
            </a:extLst>
          </p:cNvPr>
          <p:cNvSpPr txBox="1"/>
          <p:nvPr/>
        </p:nvSpPr>
        <p:spPr>
          <a:xfrm>
            <a:off x="1908011" y="1734027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A316C"/>
                </a:solidFill>
                <a:latin typeface="Noto Sans SC"/>
                <a:ea typeface="Noto Sans SC"/>
                <a:cs typeface="Noto Sans SC"/>
                <a:sym typeface="Noto Sans SC"/>
              </a:rPr>
              <a:t>透明度问题</a:t>
            </a:r>
            <a:endParaRPr lang="en-US" altLang="zh-CN" sz="12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E81D1273-5BF0-90F0-5AB7-C513E1B3CB0E}"/>
              </a:ext>
            </a:extLst>
          </p:cNvPr>
          <p:cNvSpPr txBox="1"/>
          <p:nvPr/>
        </p:nvSpPr>
        <p:spPr>
          <a:xfrm>
            <a:off x="7305511" y="173402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A316C"/>
                </a:solidFill>
                <a:latin typeface="Noto Sans SC"/>
                <a:ea typeface="Noto Sans SC"/>
                <a:cs typeface="Noto Sans SC"/>
                <a:sym typeface="Noto Sans SC"/>
              </a:rPr>
              <a:t>公平问题</a:t>
            </a:r>
            <a:endParaRPr lang="en-US" altLang="zh-CN" sz="1200" dirty="0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3A6DE3-4609-35ED-4085-66066E266478}"/>
              </a:ext>
            </a:extLst>
          </p:cNvPr>
          <p:cNvSpPr txBox="1"/>
          <p:nvPr/>
        </p:nvSpPr>
        <p:spPr>
          <a:xfrm>
            <a:off x="1908011" y="4274027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A316C"/>
                </a:solidFill>
                <a:latin typeface="Noto Sans SC"/>
                <a:ea typeface="Noto Sans SC"/>
                <a:cs typeface="Noto Sans SC"/>
                <a:sym typeface="Noto Sans SC"/>
              </a:rPr>
              <a:t>安全与福祉问题</a:t>
            </a:r>
            <a:endParaRPr lang="en-US" altLang="zh-CN" sz="1200" dirty="0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D1034A21-7FE4-0A5C-D984-472DF258E10E}"/>
              </a:ext>
            </a:extLst>
          </p:cNvPr>
          <p:cNvSpPr txBox="1"/>
          <p:nvPr/>
        </p:nvSpPr>
        <p:spPr>
          <a:xfrm>
            <a:off x="7305511" y="427671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0A316C"/>
                </a:solidFill>
                <a:latin typeface="Noto Sans SC"/>
                <a:ea typeface="Noto Sans SC"/>
                <a:cs typeface="Noto Sans SC"/>
                <a:sym typeface="Noto Sans SC"/>
              </a:rPr>
              <a:t>责任界定问题</a:t>
            </a:r>
            <a:endParaRPr lang="en-US" altLang="zh-CN" sz="1200" dirty="0"/>
          </a:p>
        </p:txBody>
      </p:sp>
      <p:sp>
        <p:nvSpPr>
          <p:cNvPr id="35" name="AutoShape 10">
            <a:extLst>
              <a:ext uri="{FF2B5EF4-FFF2-40B4-BE49-F238E27FC236}">
                <a16:creationId xmlns:a16="http://schemas.microsoft.com/office/drawing/2014/main" id="{A41E70C2-6C40-31C8-0AA1-1DDD3825DFA1}"/>
              </a:ext>
            </a:extLst>
          </p:cNvPr>
          <p:cNvSpPr/>
          <p:nvPr/>
        </p:nvSpPr>
        <p:spPr>
          <a:xfrm>
            <a:off x="7378700" y="2203355"/>
            <a:ext cx="3696476" cy="128166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25000"/>
              </a:lnSpc>
              <a:spcBef>
                <a:spcPts val="800"/>
              </a:spcBef>
            </a:pPr>
            <a:r>
              <a:rPr lang="en-US" altLang="zh-CN" sz="1600" dirty="0" err="1">
                <a:solidFill>
                  <a:srgbClr val="525252"/>
                </a:solidFill>
                <a:latin typeface="Noto Sans SC"/>
                <a:ea typeface="Noto Sans SC"/>
                <a:sym typeface="Noto Sans SC"/>
              </a:rPr>
              <a:t>算法并非绝对中立，开发者的设计目标和训练数据的历史偏差，往往会</a:t>
            </a:r>
            <a:r>
              <a:rPr lang="zh-CN" altLang="en-US" sz="1600" dirty="0">
                <a:solidFill>
                  <a:srgbClr val="525252"/>
                </a:solidFill>
                <a:latin typeface="Noto Sans SC"/>
                <a:ea typeface="Noto Sans SC"/>
                <a:sym typeface="Noto Sans SC"/>
              </a:rPr>
              <a:t>因为性别、地域、年龄、收入等因素</a:t>
            </a:r>
            <a:r>
              <a:rPr lang="en-US" altLang="zh-CN" sz="1600" dirty="0" err="1">
                <a:solidFill>
                  <a:srgbClr val="525252"/>
                </a:solidFill>
                <a:latin typeface="Noto Sans SC"/>
                <a:ea typeface="Noto Sans SC"/>
                <a:sym typeface="Noto Sans SC"/>
              </a:rPr>
              <a:t>导致</a:t>
            </a:r>
            <a:r>
              <a:rPr lang="zh-CN" altLang="en-US" sz="1600" dirty="0">
                <a:solidFill>
                  <a:srgbClr val="525252"/>
                </a:solidFill>
                <a:latin typeface="Noto Sans SC"/>
                <a:ea typeface="Noto Sans SC"/>
                <a:sym typeface="Noto Sans SC"/>
              </a:rPr>
              <a:t>不合理差别待遇。</a:t>
            </a:r>
            <a:endParaRPr lang="en-US" sz="1600" dirty="0">
              <a:solidFill>
                <a:srgbClr val="525252"/>
              </a:solidFill>
              <a:latin typeface="Noto Sans SC"/>
              <a:ea typeface="Noto Sans SC"/>
              <a:sym typeface="Noto Sans SC"/>
            </a:endParaRPr>
          </a:p>
        </p:txBody>
      </p:sp>
      <p:sp>
        <p:nvSpPr>
          <p:cNvPr id="36" name="AutoShape 10">
            <a:extLst>
              <a:ext uri="{FF2B5EF4-FFF2-40B4-BE49-F238E27FC236}">
                <a16:creationId xmlns:a16="http://schemas.microsoft.com/office/drawing/2014/main" id="{BFA6FC59-6217-5B16-70FB-39A7DE50C6EF}"/>
              </a:ext>
            </a:extLst>
          </p:cNvPr>
          <p:cNvSpPr/>
          <p:nvPr/>
        </p:nvSpPr>
        <p:spPr>
          <a:xfrm>
            <a:off x="1987220" y="4833859"/>
            <a:ext cx="3600779" cy="128166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>
              <a:lnSpc>
                <a:spcPct val="125000"/>
              </a:lnSpc>
              <a:spcBef>
                <a:spcPts val="800"/>
              </a:spcBef>
            </a:pPr>
            <a:r>
              <a:rPr lang="en-US" sz="16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算法</a:t>
            </a:r>
            <a:r>
              <a:rPr lang="zh-CN" altLang="en-US" sz="16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为追求效率或用户参与度，可能牺牲人身安全、心理健康或社会信息环境安全。</a:t>
            </a:r>
            <a:endParaRPr lang="en-US" sz="1600" b="0" i="0" u="none" strike="noStrike" dirty="0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7" name="AutoShape 10">
            <a:extLst>
              <a:ext uri="{FF2B5EF4-FFF2-40B4-BE49-F238E27FC236}">
                <a16:creationId xmlns:a16="http://schemas.microsoft.com/office/drawing/2014/main" id="{929FAAC3-9BED-5F7A-E528-16C0D7318739}"/>
              </a:ext>
            </a:extLst>
          </p:cNvPr>
          <p:cNvSpPr/>
          <p:nvPr/>
        </p:nvSpPr>
        <p:spPr>
          <a:xfrm>
            <a:off x="7384720" y="4837959"/>
            <a:ext cx="3690456" cy="1281668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>
              <a:lnSpc>
                <a:spcPct val="125000"/>
              </a:lnSpc>
              <a:spcBef>
                <a:spcPts val="800"/>
              </a:spcBef>
            </a:pPr>
            <a:r>
              <a:rPr lang="zh-CN" altLang="en-US" sz="1600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算法造成负面影响时，责任在平台、工程师、企业管理者、用户之间模糊不清。受害者难以维权，责任方得以推脱。</a:t>
            </a:r>
            <a:endParaRPr lang="en-US" sz="1600" b="0" i="0" u="none" strike="noStrike" dirty="0">
              <a:solidFill>
                <a:srgbClr val="525252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8" name="心形 7">
            <a:extLst>
              <a:ext uri="{FF2B5EF4-FFF2-40B4-BE49-F238E27FC236}">
                <a16:creationId xmlns:a16="http://schemas.microsoft.com/office/drawing/2014/main" id="{5B3FB4C5-D400-D666-0CF9-194EEDB05851}"/>
              </a:ext>
            </a:extLst>
          </p:cNvPr>
          <p:cNvSpPr/>
          <p:nvPr/>
        </p:nvSpPr>
        <p:spPr>
          <a:xfrm>
            <a:off x="1116824" y="4376507"/>
            <a:ext cx="563034" cy="515129"/>
          </a:xfrm>
          <a:prstGeom prst="hear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十字形 9">
            <a:extLst>
              <a:ext uri="{FF2B5EF4-FFF2-40B4-BE49-F238E27FC236}">
                <a16:creationId xmlns:a16="http://schemas.microsoft.com/office/drawing/2014/main" id="{9CA4FCC1-AA3A-B62B-32EE-51F41AE67586}"/>
              </a:ext>
            </a:extLst>
          </p:cNvPr>
          <p:cNvSpPr/>
          <p:nvPr/>
        </p:nvSpPr>
        <p:spPr>
          <a:xfrm>
            <a:off x="1291097" y="4544198"/>
            <a:ext cx="211384" cy="211384"/>
          </a:xfrm>
          <a:prstGeom prst="plus">
            <a:avLst>
              <a:gd name="adj" fmla="val 36842"/>
            </a:avLst>
          </a:prstGeom>
          <a:solidFill>
            <a:srgbClr val="FD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9959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AA00B-8E7D-A5F9-2697-6A610FA7CD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>
            <a:extLst>
              <a:ext uri="{FF2B5EF4-FFF2-40B4-BE49-F238E27FC236}">
                <a16:creationId xmlns:a16="http://schemas.microsoft.com/office/drawing/2014/main" id="{6045B15A-E631-FBD1-09A5-452CBA1D39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9268" y="277013"/>
            <a:ext cx="2045209" cy="568113"/>
          </a:xfrm>
          <a:prstGeom prst="rect">
            <a:avLst/>
          </a:prstGeom>
        </p:spPr>
      </p:pic>
      <p:grpSp>
        <p:nvGrpSpPr>
          <p:cNvPr id="26" name="组合 25">
            <a:extLst>
              <a:ext uri="{FF2B5EF4-FFF2-40B4-BE49-F238E27FC236}">
                <a16:creationId xmlns:a16="http://schemas.microsoft.com/office/drawing/2014/main" id="{20D899BD-139C-1C88-D499-F0C7C2016317}"/>
              </a:ext>
            </a:extLst>
          </p:cNvPr>
          <p:cNvGrpSpPr/>
          <p:nvPr/>
        </p:nvGrpSpPr>
        <p:grpSpPr>
          <a:xfrm>
            <a:off x="332740" y="415925"/>
            <a:ext cx="8613140" cy="410845"/>
            <a:chOff x="387927" y="452582"/>
            <a:chExt cx="8035637" cy="411017"/>
          </a:xfrm>
        </p:grpSpPr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C620DC3C-9576-5CC9-20A7-BB8421641D88}"/>
                </a:ext>
              </a:extLst>
            </p:cNvPr>
            <p:cNvSpPr/>
            <p:nvPr/>
          </p:nvSpPr>
          <p:spPr>
            <a:xfrm>
              <a:off x="387927" y="452582"/>
              <a:ext cx="387928" cy="184727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CC3230E7-A736-4BDC-A952-BB58EEDBA2ED}"/>
                </a:ext>
              </a:extLst>
            </p:cNvPr>
            <p:cNvSpPr/>
            <p:nvPr/>
          </p:nvSpPr>
          <p:spPr>
            <a:xfrm>
              <a:off x="581891" y="544945"/>
              <a:ext cx="512618" cy="318654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0A9529D3-9CE9-EF92-E332-BD61B8B1D685}"/>
                </a:ext>
              </a:extLst>
            </p:cNvPr>
            <p:cNvCxnSpPr/>
            <p:nvPr/>
          </p:nvCxnSpPr>
          <p:spPr>
            <a:xfrm>
              <a:off x="951345" y="826655"/>
              <a:ext cx="7472219" cy="0"/>
            </a:xfrm>
            <a:prstGeom prst="line">
              <a:avLst/>
            </a:prstGeom>
            <a:ln w="57150">
              <a:solidFill>
                <a:srgbClr val="003F8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AutoShape 2">
            <a:extLst>
              <a:ext uri="{FF2B5EF4-FFF2-40B4-BE49-F238E27FC236}">
                <a16:creationId xmlns:a16="http://schemas.microsoft.com/office/drawing/2014/main" id="{948701E4-0255-5664-B554-9AC988BBEC0D}"/>
              </a:ext>
            </a:extLst>
          </p:cNvPr>
          <p:cNvSpPr/>
          <p:nvPr/>
        </p:nvSpPr>
        <p:spPr>
          <a:xfrm>
            <a:off x="1150620" y="15494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zh-CN" altLang="en-US" sz="2800" b="1" dirty="0">
                <a:solidFill>
                  <a:srgbClr val="0A316C"/>
                </a:solidFill>
                <a:latin typeface="Noto Sans SC"/>
                <a:ea typeface="Noto Sans SC"/>
                <a:cs typeface="Noto Sans SC"/>
                <a:sym typeface="Noto Sans SC"/>
              </a:rPr>
              <a:t>解决建议</a:t>
            </a:r>
            <a:endParaRPr lang="zh-CN" altLang="en-US" sz="2800" b="1" dirty="0">
              <a:solidFill>
                <a:srgbClr val="0D47A1"/>
              </a:solidFill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11" name="矩形: 对角圆角 10">
            <a:extLst>
              <a:ext uri="{FF2B5EF4-FFF2-40B4-BE49-F238E27FC236}">
                <a16:creationId xmlns:a16="http://schemas.microsoft.com/office/drawing/2014/main" id="{3E46B451-1704-60D4-22C0-ED5F0ABB6BC2}"/>
              </a:ext>
            </a:extLst>
          </p:cNvPr>
          <p:cNvSpPr/>
          <p:nvPr/>
        </p:nvSpPr>
        <p:spPr>
          <a:xfrm flipH="1">
            <a:off x="1141446" y="1607034"/>
            <a:ext cx="4943582" cy="2201591"/>
          </a:xfrm>
          <a:prstGeom prst="round2Diag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n"/>
            </a:pPr>
            <a:endParaRPr lang="zh-CN" altLang="en-US" sz="12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D67B2C7-A44F-12DD-32B4-EF58DC8B344F}"/>
              </a:ext>
            </a:extLst>
          </p:cNvPr>
          <p:cNvSpPr txBox="1"/>
          <p:nvPr/>
        </p:nvSpPr>
        <p:spPr>
          <a:xfrm>
            <a:off x="1070794" y="1227690"/>
            <a:ext cx="1721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企业</a:t>
            </a:r>
            <a:endParaRPr kumimoji="1" lang="zh-CN" altLang="en-US" sz="2000" dirty="0">
              <a:solidFill>
                <a:srgbClr val="003F8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41560E-0F30-7F6E-EC3E-D95E64D84D62}"/>
              </a:ext>
            </a:extLst>
          </p:cNvPr>
          <p:cNvSpPr/>
          <p:nvPr/>
        </p:nvSpPr>
        <p:spPr>
          <a:xfrm>
            <a:off x="1334319" y="1757587"/>
            <a:ext cx="4778389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公开基本算法规则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设置申诉机制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定期进行算法公平性审查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不把效率指标设得过度极端 </a:t>
            </a:r>
          </a:p>
        </p:txBody>
      </p:sp>
      <p:pic>
        <p:nvPicPr>
          <p:cNvPr id="14" name="图形 13" descr="齿轮">
            <a:extLst>
              <a:ext uri="{FF2B5EF4-FFF2-40B4-BE49-F238E27FC236}">
                <a16:creationId xmlns:a16="http://schemas.microsoft.com/office/drawing/2014/main" id="{20BB7794-9805-D333-1BDD-9EECD10E37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84349">
            <a:off x="5743903" y="3492017"/>
            <a:ext cx="704193" cy="704193"/>
          </a:xfrm>
          <a:prstGeom prst="rect">
            <a:avLst/>
          </a:prstGeom>
        </p:spPr>
      </p:pic>
      <p:sp>
        <p:nvSpPr>
          <p:cNvPr id="15" name="矩形: 对角圆角 14">
            <a:extLst>
              <a:ext uri="{FF2B5EF4-FFF2-40B4-BE49-F238E27FC236}">
                <a16:creationId xmlns:a16="http://schemas.microsoft.com/office/drawing/2014/main" id="{5957AD3D-EA9A-9893-82C7-ACC7EE8A1CD9}"/>
              </a:ext>
            </a:extLst>
          </p:cNvPr>
          <p:cNvSpPr/>
          <p:nvPr/>
        </p:nvSpPr>
        <p:spPr>
          <a:xfrm>
            <a:off x="6149451" y="1587894"/>
            <a:ext cx="4901102" cy="2222843"/>
          </a:xfrm>
          <a:prstGeom prst="round2Diag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F9F103B-1936-7D32-B296-75F73511460C}"/>
              </a:ext>
            </a:extLst>
          </p:cNvPr>
          <p:cNvSpPr txBox="1"/>
          <p:nvPr/>
        </p:nvSpPr>
        <p:spPr>
          <a:xfrm>
            <a:off x="9340079" y="1227689"/>
            <a:ext cx="1721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政府</a:t>
            </a:r>
            <a:endParaRPr kumimoji="1" lang="zh-CN" altLang="en-US" sz="2000" dirty="0">
              <a:solidFill>
                <a:srgbClr val="003F88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D0804DF-7599-C231-A1F2-B53FD9816B2E}"/>
              </a:ext>
            </a:extLst>
          </p:cNvPr>
          <p:cNvSpPr/>
          <p:nvPr/>
        </p:nvSpPr>
        <p:spPr>
          <a:xfrm>
            <a:off x="6339223" y="1757587"/>
            <a:ext cx="4778389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要求平台说明关键算法逻辑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建立算法审计制度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对严重歧视或安全风险进行处罚 </a:t>
            </a:r>
          </a:p>
        </p:txBody>
      </p:sp>
      <p:sp>
        <p:nvSpPr>
          <p:cNvPr id="18" name="矩形: 对角圆角 17">
            <a:extLst>
              <a:ext uri="{FF2B5EF4-FFF2-40B4-BE49-F238E27FC236}">
                <a16:creationId xmlns:a16="http://schemas.microsoft.com/office/drawing/2014/main" id="{1AD824D9-D63B-7FDC-9850-CA80A611F307}"/>
              </a:ext>
            </a:extLst>
          </p:cNvPr>
          <p:cNvSpPr/>
          <p:nvPr/>
        </p:nvSpPr>
        <p:spPr>
          <a:xfrm>
            <a:off x="1195090" y="3909329"/>
            <a:ext cx="4900910" cy="2201591"/>
          </a:xfrm>
          <a:prstGeom prst="round2DiagRect">
            <a:avLst/>
          </a:prstGeom>
          <a:solidFill>
            <a:schemeClr val="accent5">
              <a:lumMod val="40000"/>
              <a:lumOff val="6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432B85F-0EE1-A4BB-650B-BEB3B0910109}"/>
              </a:ext>
            </a:extLst>
          </p:cNvPr>
          <p:cNvSpPr/>
          <p:nvPr/>
        </p:nvSpPr>
        <p:spPr>
          <a:xfrm>
            <a:off x="1070794" y="5812205"/>
            <a:ext cx="339884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工程师</a:t>
            </a:r>
            <a:endParaRPr lang="zh-CN" altLang="en-US" sz="2800" dirty="0">
              <a:solidFill>
                <a:srgbClr val="003F88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7E4CCE2-FCDE-8C0E-953E-F2C457757B72}"/>
              </a:ext>
            </a:extLst>
          </p:cNvPr>
          <p:cNvSpPr/>
          <p:nvPr/>
        </p:nvSpPr>
        <p:spPr>
          <a:xfrm>
            <a:off x="1334319" y="4133904"/>
            <a:ext cx="4410045" cy="17054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在设计阶段加入伦理评估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检查训练数据是否有偏见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避免只优化点击率、送达率、利润率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保留人工复核机制 </a:t>
            </a:r>
          </a:p>
        </p:txBody>
      </p:sp>
      <p:sp>
        <p:nvSpPr>
          <p:cNvPr id="24" name="矩形: 对角圆角 23">
            <a:extLst>
              <a:ext uri="{FF2B5EF4-FFF2-40B4-BE49-F238E27FC236}">
                <a16:creationId xmlns:a16="http://schemas.microsoft.com/office/drawing/2014/main" id="{8402952B-018D-E8DF-7878-558A4A0C3FBD}"/>
              </a:ext>
            </a:extLst>
          </p:cNvPr>
          <p:cNvSpPr/>
          <p:nvPr/>
        </p:nvSpPr>
        <p:spPr>
          <a:xfrm flipH="1">
            <a:off x="6160421" y="3909331"/>
            <a:ext cx="4900910" cy="2201590"/>
          </a:xfrm>
          <a:prstGeom prst="round2DiagRect">
            <a:avLst/>
          </a:prstGeom>
          <a:solidFill>
            <a:schemeClr val="accent5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043490C-58D6-62FA-3BE9-3AF9173220E6}"/>
              </a:ext>
            </a:extLst>
          </p:cNvPr>
          <p:cNvSpPr/>
          <p:nvPr/>
        </p:nvSpPr>
        <p:spPr>
          <a:xfrm>
            <a:off x="5511341" y="5812206"/>
            <a:ext cx="554999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kumimoji="1" lang="zh-CN" altLang="en-US" sz="2800" b="1" dirty="0">
                <a:solidFill>
                  <a:srgbClr val="003F88"/>
                </a:solidFill>
                <a:latin typeface="微软雅黑" pitchFamily="34" charset="-122"/>
                <a:ea typeface="微软雅黑" pitchFamily="34" charset="-122"/>
              </a:rPr>
              <a:t>公众</a:t>
            </a:r>
            <a:endParaRPr lang="zh-CN" altLang="en-US" sz="2800" dirty="0">
              <a:solidFill>
                <a:srgbClr val="003F88"/>
              </a:solidFill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DA6DCAE-E77C-C38D-EAA3-1DBCD00064D5}"/>
              </a:ext>
            </a:extLst>
          </p:cNvPr>
          <p:cNvSpPr/>
          <p:nvPr/>
        </p:nvSpPr>
        <p:spPr>
          <a:xfrm>
            <a:off x="6339223" y="4133904"/>
            <a:ext cx="4778389" cy="12899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提高数据权利意识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对不合理算法规则提出反馈 </a:t>
            </a:r>
          </a:p>
          <a:p>
            <a:pPr>
              <a:lnSpc>
                <a:spcPct val="150000"/>
              </a:lnSpc>
            </a:pPr>
            <a:r>
              <a:rPr kumimoji="1" lang="en-US" altLang="zh-CN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• </a:t>
            </a:r>
            <a:r>
              <a:rPr kumimoji="1" lang="zh-CN" altLang="en-US" b="1" dirty="0">
                <a:solidFill>
                  <a:schemeClr val="tx2">
                    <a:lumMod val="75000"/>
                  </a:schemeClr>
                </a:solidFill>
                <a:latin typeface="+mn-ea"/>
              </a:rPr>
              <a:t>支持平台透明化和劳动权益保护</a:t>
            </a:r>
          </a:p>
        </p:txBody>
      </p:sp>
      <p:pic>
        <p:nvPicPr>
          <p:cNvPr id="40" name="图形 39">
            <a:extLst>
              <a:ext uri="{FF2B5EF4-FFF2-40B4-BE49-F238E27FC236}">
                <a16:creationId xmlns:a16="http://schemas.microsoft.com/office/drawing/2014/main" id="{3B36DD17-167B-51A5-6822-7D72238303A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19583" y="1760566"/>
            <a:ext cx="737365" cy="737365"/>
          </a:xfrm>
          <a:prstGeom prst="rect">
            <a:avLst/>
          </a:prstGeom>
        </p:spPr>
      </p:pic>
      <p:pic>
        <p:nvPicPr>
          <p:cNvPr id="42" name="图形 41">
            <a:extLst>
              <a:ext uri="{FF2B5EF4-FFF2-40B4-BE49-F238E27FC236}">
                <a16:creationId xmlns:a16="http://schemas.microsoft.com/office/drawing/2014/main" id="{C6E99444-DF87-D43C-989B-D9CFAD8AFB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5052" y="1750909"/>
            <a:ext cx="737365" cy="737365"/>
          </a:xfrm>
          <a:prstGeom prst="rect">
            <a:avLst/>
          </a:prstGeom>
        </p:spPr>
      </p:pic>
      <p:pic>
        <p:nvPicPr>
          <p:cNvPr id="44" name="图形 43">
            <a:extLst>
              <a:ext uri="{FF2B5EF4-FFF2-40B4-BE49-F238E27FC236}">
                <a16:creationId xmlns:a16="http://schemas.microsoft.com/office/drawing/2014/main" id="{FBCD36D9-BE5C-88DF-8103-98A64EFE0C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393" y="5082540"/>
            <a:ext cx="712023" cy="712023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5672CEBD-7B11-44DA-A463-DCD00AF87C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806883" y="5047627"/>
            <a:ext cx="767897" cy="76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79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ACC290-DA42-DE6A-E855-A7783F4B9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矩形: 圆角 59">
            <a:extLst>
              <a:ext uri="{FF2B5EF4-FFF2-40B4-BE49-F238E27FC236}">
                <a16:creationId xmlns:a16="http://schemas.microsoft.com/office/drawing/2014/main" id="{6035DDC7-6E59-71E8-F77D-85F88ADABDC1}"/>
              </a:ext>
            </a:extLst>
          </p:cNvPr>
          <p:cNvSpPr/>
          <p:nvPr/>
        </p:nvSpPr>
        <p:spPr>
          <a:xfrm>
            <a:off x="5359777" y="4739744"/>
            <a:ext cx="4749423" cy="874625"/>
          </a:xfrm>
          <a:prstGeom prst="roundRect">
            <a:avLst/>
          </a:prstGeom>
          <a:solidFill>
            <a:srgbClr val="E5EFF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57" name="组合 56">
            <a:extLst>
              <a:ext uri="{FF2B5EF4-FFF2-40B4-BE49-F238E27FC236}">
                <a16:creationId xmlns:a16="http://schemas.microsoft.com/office/drawing/2014/main" id="{523E97E5-6240-27C5-2DC7-70C4DFA6C410}"/>
              </a:ext>
            </a:extLst>
          </p:cNvPr>
          <p:cNvGrpSpPr/>
          <p:nvPr/>
        </p:nvGrpSpPr>
        <p:grpSpPr>
          <a:xfrm>
            <a:off x="-4570914" y="-1201240"/>
            <a:ext cx="9154865" cy="9154865"/>
            <a:chOff x="-4570914" y="-1201240"/>
            <a:chExt cx="9154865" cy="9154865"/>
          </a:xfrm>
        </p:grpSpPr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D1C7931D-4FE9-3DD7-416B-4E940431FDDA}"/>
                </a:ext>
              </a:extLst>
            </p:cNvPr>
            <p:cNvSpPr/>
            <p:nvPr/>
          </p:nvSpPr>
          <p:spPr>
            <a:xfrm>
              <a:off x="-2227898" y="1141776"/>
              <a:ext cx="4468833" cy="4468833"/>
            </a:xfrm>
            <a:prstGeom prst="ellipse">
              <a:avLst/>
            </a:prstGeom>
            <a:noFill/>
            <a:ln w="19050"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>
              <a:extLst>
                <a:ext uri="{FF2B5EF4-FFF2-40B4-BE49-F238E27FC236}">
                  <a16:creationId xmlns:a16="http://schemas.microsoft.com/office/drawing/2014/main" id="{3C7FA472-7419-049C-2E02-DC90A769B65F}"/>
                </a:ext>
              </a:extLst>
            </p:cNvPr>
            <p:cNvSpPr/>
            <p:nvPr/>
          </p:nvSpPr>
          <p:spPr>
            <a:xfrm>
              <a:off x="-3348128" y="7050"/>
              <a:ext cx="6801183" cy="6801183"/>
            </a:xfrm>
            <a:prstGeom prst="ellipse">
              <a:avLst/>
            </a:prstGeom>
            <a:noFill/>
            <a:ln w="1905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77215CE7-5DD5-556B-169D-C256C43017EB}"/>
                </a:ext>
              </a:extLst>
            </p:cNvPr>
            <p:cNvGrpSpPr/>
            <p:nvPr/>
          </p:nvGrpSpPr>
          <p:grpSpPr>
            <a:xfrm>
              <a:off x="-1723183" y="1645215"/>
              <a:ext cx="3561488" cy="3561488"/>
              <a:chOff x="3113734" y="1203967"/>
              <a:chExt cx="3561488" cy="3561488"/>
            </a:xfrm>
          </p:grpSpPr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BDED45F1-FECB-ACA6-4FC5-5A5AC9C9F2AB}"/>
                  </a:ext>
                </a:extLst>
              </p:cNvPr>
              <p:cNvSpPr/>
              <p:nvPr/>
            </p:nvSpPr>
            <p:spPr>
              <a:xfrm rot="7677188">
                <a:off x="3113734" y="1203967"/>
                <a:ext cx="3561488" cy="356148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1000">
                    <a:srgbClr val="CFDBDF">
                      <a:alpha val="59000"/>
                    </a:srgb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5AD2C59-0A8E-AA47-AC38-559EA5BF1D11}"/>
                  </a:ext>
                </a:extLst>
              </p:cNvPr>
              <p:cNvSpPr/>
              <p:nvPr/>
            </p:nvSpPr>
            <p:spPr>
              <a:xfrm rot="7915019">
                <a:off x="3359185" y="1449419"/>
                <a:ext cx="3070585" cy="3070585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1000">
                    <a:srgbClr val="CFDBDF">
                      <a:alpha val="59000"/>
                    </a:srgb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 dirty="0"/>
              </a:p>
            </p:txBody>
          </p:sp>
          <p:sp>
            <p:nvSpPr>
              <p:cNvPr id="38" name="椭圆 37">
                <a:extLst>
                  <a:ext uri="{FF2B5EF4-FFF2-40B4-BE49-F238E27FC236}">
                    <a16:creationId xmlns:a16="http://schemas.microsoft.com/office/drawing/2014/main" id="{2AD4DDD0-CF20-B79F-00C6-378EE842C034}"/>
                  </a:ext>
                </a:extLst>
              </p:cNvPr>
              <p:cNvSpPr/>
              <p:nvPr/>
            </p:nvSpPr>
            <p:spPr>
              <a:xfrm rot="7915019">
                <a:off x="3742443" y="1796326"/>
                <a:ext cx="2376770" cy="237677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1000">
                    <a:srgbClr val="CFDBDF">
                      <a:alpha val="59000"/>
                    </a:srgb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椭圆 38">
                <a:extLst>
                  <a:ext uri="{FF2B5EF4-FFF2-40B4-BE49-F238E27FC236}">
                    <a16:creationId xmlns:a16="http://schemas.microsoft.com/office/drawing/2014/main" id="{7A0EF96A-01E2-057F-E4EF-553FCC99A1C8}"/>
                  </a:ext>
                </a:extLst>
              </p:cNvPr>
              <p:cNvSpPr/>
              <p:nvPr/>
            </p:nvSpPr>
            <p:spPr>
              <a:xfrm rot="7915019">
                <a:off x="4058337" y="2090247"/>
                <a:ext cx="1788928" cy="1788928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1000">
                    <a:srgbClr val="CFDBDF">
                      <a:alpha val="59000"/>
                    </a:srgb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椭圆 39">
                <a:extLst>
                  <a:ext uri="{FF2B5EF4-FFF2-40B4-BE49-F238E27FC236}">
                    <a16:creationId xmlns:a16="http://schemas.microsoft.com/office/drawing/2014/main" id="{05BE68BA-E003-7E2E-602E-24B7A876CE25}"/>
                  </a:ext>
                </a:extLst>
              </p:cNvPr>
              <p:cNvSpPr/>
              <p:nvPr/>
            </p:nvSpPr>
            <p:spPr>
              <a:xfrm rot="7915019">
                <a:off x="4331361" y="2363271"/>
                <a:ext cx="1242880" cy="1242880"/>
              </a:xfrm>
              <a:prstGeom prst="ellipse">
                <a:avLst/>
              </a:prstGeom>
              <a:gradFill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51000">
                    <a:srgbClr val="CFDBDF">
                      <a:alpha val="59000"/>
                    </a:srgbClr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270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C5F6AEC6-2795-240F-8EEF-892872DF9B3A}"/>
                </a:ext>
              </a:extLst>
            </p:cNvPr>
            <p:cNvGrpSpPr/>
            <p:nvPr/>
          </p:nvGrpSpPr>
          <p:grpSpPr>
            <a:xfrm>
              <a:off x="-3825568" y="-597906"/>
              <a:ext cx="7818647" cy="7806186"/>
              <a:chOff x="-3825568" y="-597906"/>
              <a:chExt cx="7818647" cy="7806186"/>
            </a:xfrm>
          </p:grpSpPr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A3A44957-841A-4F94-AC54-76843F0582C0}"/>
                  </a:ext>
                </a:extLst>
              </p:cNvPr>
              <p:cNvSpPr/>
              <p:nvPr/>
            </p:nvSpPr>
            <p:spPr>
              <a:xfrm>
                <a:off x="-3825568" y="-597906"/>
                <a:ext cx="7806186" cy="7806186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61A6D7D5-E492-8CAF-E6C6-9C36368138C9}"/>
                  </a:ext>
                </a:extLst>
              </p:cNvPr>
              <p:cNvSpPr/>
              <p:nvPr/>
            </p:nvSpPr>
            <p:spPr>
              <a:xfrm>
                <a:off x="3801322" y="4096625"/>
                <a:ext cx="191757" cy="19175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D2832987-C9F8-160E-9121-50D1F3B483A0}"/>
                </a:ext>
              </a:extLst>
            </p:cNvPr>
            <p:cNvGrpSpPr/>
            <p:nvPr/>
          </p:nvGrpSpPr>
          <p:grpSpPr>
            <a:xfrm>
              <a:off x="-4570914" y="-1201240"/>
              <a:ext cx="9154865" cy="9154865"/>
              <a:chOff x="-4570914" y="-1201240"/>
              <a:chExt cx="9154865" cy="9154865"/>
            </a:xfrm>
          </p:grpSpPr>
          <p:sp>
            <p:nvSpPr>
              <p:cNvPr id="45" name="椭圆 44">
                <a:extLst>
                  <a:ext uri="{FF2B5EF4-FFF2-40B4-BE49-F238E27FC236}">
                    <a16:creationId xmlns:a16="http://schemas.microsoft.com/office/drawing/2014/main" id="{59D29D88-1ED7-57D9-5971-A198856B83DF}"/>
                  </a:ext>
                </a:extLst>
              </p:cNvPr>
              <p:cNvSpPr/>
              <p:nvPr/>
            </p:nvSpPr>
            <p:spPr>
              <a:xfrm>
                <a:off x="-4570914" y="-1201240"/>
                <a:ext cx="9154865" cy="9154865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椭圆 45">
                <a:extLst>
                  <a:ext uri="{FF2B5EF4-FFF2-40B4-BE49-F238E27FC236}">
                    <a16:creationId xmlns:a16="http://schemas.microsoft.com/office/drawing/2014/main" id="{202566ED-4376-1193-60F3-FC7BBD0743D8}"/>
                  </a:ext>
                </a:extLst>
              </p:cNvPr>
              <p:cNvSpPr/>
              <p:nvPr/>
            </p:nvSpPr>
            <p:spPr>
              <a:xfrm flipV="1">
                <a:off x="3777407" y="826257"/>
                <a:ext cx="141217" cy="141217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7" name="椭圆 46">
                <a:extLst>
                  <a:ext uri="{FF2B5EF4-FFF2-40B4-BE49-F238E27FC236}">
                    <a16:creationId xmlns:a16="http://schemas.microsoft.com/office/drawing/2014/main" id="{A31E5DF6-711D-1B77-576A-F2C57E40A716}"/>
                  </a:ext>
                </a:extLst>
              </p:cNvPr>
              <p:cNvSpPr/>
              <p:nvPr/>
            </p:nvSpPr>
            <p:spPr>
              <a:xfrm>
                <a:off x="3260059" y="6339683"/>
                <a:ext cx="258983" cy="258983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>
              <a:extLst>
                <a:ext uri="{FF2B5EF4-FFF2-40B4-BE49-F238E27FC236}">
                  <a16:creationId xmlns:a16="http://schemas.microsoft.com/office/drawing/2014/main" id="{47A6DDAF-7CC2-5E37-5000-CD4E475041B7}"/>
                </a:ext>
              </a:extLst>
            </p:cNvPr>
            <p:cNvGrpSpPr/>
            <p:nvPr/>
          </p:nvGrpSpPr>
          <p:grpSpPr>
            <a:xfrm>
              <a:off x="-2536657" y="833017"/>
              <a:ext cx="5146988" cy="5086350"/>
              <a:chOff x="-2536657" y="833017"/>
              <a:chExt cx="5146988" cy="5086350"/>
            </a:xfrm>
          </p:grpSpPr>
          <p:sp>
            <p:nvSpPr>
              <p:cNvPr id="49" name="椭圆 48">
                <a:extLst>
                  <a:ext uri="{FF2B5EF4-FFF2-40B4-BE49-F238E27FC236}">
                    <a16:creationId xmlns:a16="http://schemas.microsoft.com/office/drawing/2014/main" id="{A15879F9-5A5E-829A-76C7-1EA2887E97B2}"/>
                  </a:ext>
                </a:extLst>
              </p:cNvPr>
              <p:cNvSpPr/>
              <p:nvPr/>
            </p:nvSpPr>
            <p:spPr>
              <a:xfrm>
                <a:off x="-2536657" y="833017"/>
                <a:ext cx="5086350" cy="5086350"/>
              </a:xfrm>
              <a:prstGeom prst="ellipse">
                <a:avLst/>
              </a:prstGeom>
              <a:noFill/>
              <a:ln w="1905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椭圆 49">
                <a:extLst>
                  <a:ext uri="{FF2B5EF4-FFF2-40B4-BE49-F238E27FC236}">
                    <a16:creationId xmlns:a16="http://schemas.microsoft.com/office/drawing/2014/main" id="{8EDDB75E-FB5A-FE1E-0D1C-369530469299}"/>
                  </a:ext>
                </a:extLst>
              </p:cNvPr>
              <p:cNvSpPr/>
              <p:nvPr/>
            </p:nvSpPr>
            <p:spPr>
              <a:xfrm>
                <a:off x="2407661" y="2881021"/>
                <a:ext cx="202670" cy="202670"/>
              </a:xfrm>
              <a:prstGeom prst="ellipse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DE7F3016-1156-85B0-C5C5-00EA13F575F5}"/>
                </a:ext>
              </a:extLst>
            </p:cNvPr>
            <p:cNvGrpSpPr/>
            <p:nvPr/>
          </p:nvGrpSpPr>
          <p:grpSpPr>
            <a:xfrm>
              <a:off x="-2956972" y="412702"/>
              <a:ext cx="5926981" cy="5926981"/>
              <a:chOff x="-2956972" y="412702"/>
              <a:chExt cx="5926981" cy="5926981"/>
            </a:xfrm>
          </p:grpSpPr>
          <p:sp>
            <p:nvSpPr>
              <p:cNvPr id="52" name="椭圆 51">
                <a:extLst>
                  <a:ext uri="{FF2B5EF4-FFF2-40B4-BE49-F238E27FC236}">
                    <a16:creationId xmlns:a16="http://schemas.microsoft.com/office/drawing/2014/main" id="{BB4276ED-6DFE-3C68-64CD-08736C1AE9D7}"/>
                  </a:ext>
                </a:extLst>
              </p:cNvPr>
              <p:cNvSpPr/>
              <p:nvPr/>
            </p:nvSpPr>
            <p:spPr>
              <a:xfrm>
                <a:off x="1607992" y="5729314"/>
                <a:ext cx="164117" cy="16411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lang="zh-CN" altLang="en-US"/>
              </a:p>
            </p:txBody>
          </p:sp>
          <p:grpSp>
            <p:nvGrpSpPr>
              <p:cNvPr id="53" name="组合 52">
                <a:extLst>
                  <a:ext uri="{FF2B5EF4-FFF2-40B4-BE49-F238E27FC236}">
                    <a16:creationId xmlns:a16="http://schemas.microsoft.com/office/drawing/2014/main" id="{50E76CBC-B8DD-1A50-7DA2-4DE6B4351806}"/>
                  </a:ext>
                </a:extLst>
              </p:cNvPr>
              <p:cNvGrpSpPr/>
              <p:nvPr/>
            </p:nvGrpSpPr>
            <p:grpSpPr>
              <a:xfrm>
                <a:off x="-2956972" y="412702"/>
                <a:ext cx="5926981" cy="5926981"/>
                <a:chOff x="-2956972" y="412702"/>
                <a:chExt cx="5926981" cy="5926981"/>
              </a:xfrm>
            </p:grpSpPr>
            <p:sp>
              <p:nvSpPr>
                <p:cNvPr id="54" name="椭圆 53">
                  <a:extLst>
                    <a:ext uri="{FF2B5EF4-FFF2-40B4-BE49-F238E27FC236}">
                      <a16:creationId xmlns:a16="http://schemas.microsoft.com/office/drawing/2014/main" id="{80B2DFF4-87C3-7C66-F981-728B8F234D0A}"/>
                    </a:ext>
                  </a:extLst>
                </p:cNvPr>
                <p:cNvSpPr/>
                <p:nvPr/>
              </p:nvSpPr>
              <p:spPr>
                <a:xfrm>
                  <a:off x="-2956972" y="412702"/>
                  <a:ext cx="5926981" cy="5926981"/>
                </a:xfrm>
                <a:prstGeom prst="ellipse">
                  <a:avLst/>
                </a:prstGeom>
                <a:noFill/>
                <a:ln w="19050"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5" name="椭圆 54">
                  <a:extLst>
                    <a:ext uri="{FF2B5EF4-FFF2-40B4-BE49-F238E27FC236}">
                      <a16:creationId xmlns:a16="http://schemas.microsoft.com/office/drawing/2014/main" id="{B88384FE-09EC-58FC-73CA-D220456D8129}"/>
                    </a:ext>
                  </a:extLst>
                </p:cNvPr>
                <p:cNvSpPr/>
                <p:nvPr/>
              </p:nvSpPr>
              <p:spPr>
                <a:xfrm>
                  <a:off x="839721" y="450570"/>
                  <a:ext cx="153740" cy="153740"/>
                </a:xfrm>
                <a:prstGeom prst="ellipse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accent1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zh-CN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zh-CN" altLang="en-US"/>
                </a:p>
              </p:txBody>
            </p:sp>
          </p:grpSp>
        </p:grpSp>
        <p:pic>
          <p:nvPicPr>
            <p:cNvPr id="56" name="图片 55">
              <a:extLst>
                <a:ext uri="{FF2B5EF4-FFF2-40B4-BE49-F238E27FC236}">
                  <a16:creationId xmlns:a16="http://schemas.microsoft.com/office/drawing/2014/main" id="{FC00DB9E-6EB4-F813-C8C1-E50C55863E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-1088155" y="2250815"/>
              <a:ext cx="2790933" cy="2210668"/>
            </a:xfrm>
            <a:prstGeom prst="rect">
              <a:avLst/>
            </a:prstGeom>
          </p:spPr>
        </p:pic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id="{6138EBFD-FB4F-F802-DCF0-D644F9054CDB}"/>
              </a:ext>
            </a:extLst>
          </p:cNvPr>
          <p:cNvSpPr txBox="1"/>
          <p:nvPr/>
        </p:nvSpPr>
        <p:spPr>
          <a:xfrm>
            <a:off x="5460550" y="1069246"/>
            <a:ext cx="6477449" cy="371351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 marR="457200">
              <a:buNone/>
              <a:defRPr>
                <a:effectLst/>
                <a:latin typeface="+mn-ea"/>
                <a:cs typeface="宋体" panose="02010600030101010101" pitchFamily="2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算法本身不是邪恶的，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它可以提高效率、降低成本、改善服务。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但当算法被用于管理人、筛选人、评价人时，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它就不只是技术问题，而是工程伦理问题。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真正负责任的平台算法，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不应只追求更快、更准、更赚钱，</a:t>
            </a: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zh-CN" sz="2000" dirty="0">
                <a:latin typeface="楷体" panose="02010609060101010101" pitchFamily="49" charset="-122"/>
                <a:ea typeface="楷体" panose="02010609060101010101" pitchFamily="49" charset="-122"/>
              </a:rPr>
              <a:t>也应考虑人的安全、公平、尊严与选择权。</a:t>
            </a:r>
            <a:endParaRPr lang="zh-CN" altLang="zh-CN" sz="20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B3242E0C-2635-3AD1-FAD1-526C53D3DB0C}"/>
              </a:ext>
            </a:extLst>
          </p:cNvPr>
          <p:cNvSpPr txBox="1"/>
          <p:nvPr/>
        </p:nvSpPr>
        <p:spPr>
          <a:xfrm>
            <a:off x="5491030" y="4882718"/>
            <a:ext cx="4943290" cy="458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800" b="1" dirty="0">
                <a:latin typeface="+mn-ea"/>
              </a:rPr>
              <a:t>好的算法，不只是算得快，也要对人负责。</a:t>
            </a:r>
          </a:p>
        </p:txBody>
      </p:sp>
    </p:spTree>
    <p:extLst>
      <p:ext uri="{BB962C8B-B14F-4D97-AF65-F5344CB8AC3E}">
        <p14:creationId xmlns:p14="http://schemas.microsoft.com/office/powerpoint/2010/main" val="911706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318" y="487688"/>
            <a:ext cx="3377364" cy="938156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0" y="2279259"/>
            <a:ext cx="12192000" cy="2299792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000" spc="3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-185979" y="2032990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平行四边形 15"/>
          <p:cNvSpPr/>
          <p:nvPr/>
        </p:nvSpPr>
        <p:spPr>
          <a:xfrm>
            <a:off x="7421105" y="4703038"/>
            <a:ext cx="4959457" cy="108489"/>
          </a:xfrm>
          <a:prstGeom prst="parallelogram">
            <a:avLst>
              <a:gd name="adj" fmla="val 80556"/>
            </a:avLst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3996372" y="2921168"/>
            <a:ext cx="4199255" cy="10147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6000" b="1" spc="3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感谢聆听！</a:t>
            </a:r>
            <a:endParaRPr lang="en-US" altLang="zh-CN" sz="6000" b="1" spc="3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060700" y="5387975"/>
            <a:ext cx="55130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b="1" dirty="0"/>
              <a:t>汇报小组：第</a:t>
            </a:r>
            <a:r>
              <a:rPr lang="en-US" altLang="zh-CN" sz="2400" b="1" dirty="0"/>
              <a:t>9</a:t>
            </a:r>
            <a:r>
              <a:rPr lang="zh-CN" altLang="en-US" sz="2400" b="1" dirty="0"/>
              <a:t>小组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2957480314961,&quot;left&quot;:40.5,&quot;top&quot;:81.15425196850393,&quot;width&quot;:902.9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7,&quot;left&quot;:80,&quot;top&quot;:390,&quot;width&quot;:37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7,&quot;left&quot;:80,&quot;top&quot;:390,&quot;width&quot;:370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7,&quot;left&quot;:80,&quot;top&quot;:390,&quot;width&quot;:370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103.7,&quot;left&quot;:80,&quot;top&quot;:390,&quot;width&quot;:370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27.55,&quot;left&quot;:64.8,&quot;top&quot;:145.6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1087</Words>
  <Application>Microsoft Office PowerPoint</Application>
  <PresentationFormat>宽屏</PresentationFormat>
  <Paragraphs>130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BatangChe</vt:lpstr>
      <vt:lpstr>Noto Sans SC</vt:lpstr>
      <vt:lpstr>等线</vt:lpstr>
      <vt:lpstr>仿宋</vt:lpstr>
      <vt:lpstr>黑体</vt:lpstr>
      <vt:lpstr>楷体</vt:lpstr>
      <vt:lpstr>微软雅黑</vt:lpstr>
      <vt:lpstr>Arial</vt:lpstr>
      <vt:lpstr>Calibri</vt:lpstr>
      <vt:lpstr>Wingdings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</dc:creator>
  <cp:lastModifiedBy>昕妍 胡</cp:lastModifiedBy>
  <cp:revision>123</cp:revision>
  <dcterms:created xsi:type="dcterms:W3CDTF">2024-06-04T23:12:00Z</dcterms:created>
  <dcterms:modified xsi:type="dcterms:W3CDTF">2026-05-18T09:51:27Z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F4606F2CEEC248D3B70128CB63BC891E_13</vt:lpwstr>
  </property>
  <property fmtid="{D5CDD505-2E9C-101B-9397-08002B2CF9AE}" pid="3" name="KSOProductBuildVer">
    <vt:lpwstr>2052-12.1.0.26375</vt:lpwstr>
  </property>
</Properties>
</file>