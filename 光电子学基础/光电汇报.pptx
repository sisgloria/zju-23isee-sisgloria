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60" r:id="rId4"/>
    <p:sldId id="261" r:id="rId5"/>
    <p:sldId id="262" r:id="rId6"/>
    <p:sldId id="274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ABAB"/>
    <a:srgbClr val="595959"/>
    <a:srgbClr val="B9B9B9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626F-3C3F-4015-BFA0-DB08E9CDE3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5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5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6D368-CBDF-4EC8-A09E-7865E2A2E2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8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1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2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4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4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7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1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1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2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2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6"/>
          <p:cNvGrpSpPr/>
          <p:nvPr/>
        </p:nvGrpSpPr>
        <p:grpSpPr>
          <a:xfrm>
            <a:off x="0" y="902335"/>
            <a:ext cx="12191365" cy="5216525"/>
            <a:chOff x="-1" y="1609725"/>
            <a:chExt cx="12192002" cy="4243803"/>
          </a:xfrm>
        </p:grpSpPr>
        <p:pic>
          <p:nvPicPr>
            <p:cNvPr id="2097152" name="Picture 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2767" r="7205" b="57679"/>
            <a:stretch>
              <a:fillRect/>
            </a:stretch>
          </p:blipFill>
          <p:spPr bwMode="auto">
            <a:xfrm rot="10800000">
              <a:off x="-1" y="5218330"/>
              <a:ext cx="12192001" cy="63519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586" name="矩形 9"/>
            <p:cNvSpPr/>
            <p:nvPr/>
          </p:nvSpPr>
          <p:spPr>
            <a:xfrm>
              <a:off x="-1" y="1609725"/>
              <a:ext cx="12192002" cy="3655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048588" name="文本框 13"/>
          <p:cNvSpPr txBox="1"/>
          <p:nvPr/>
        </p:nvSpPr>
        <p:spPr>
          <a:xfrm>
            <a:off x="391795" y="1682115"/>
            <a:ext cx="115938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Integrated lithium niobate photonics for 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  <a:latin typeface="汉仪雅酷黑-85J" panose="00020600040101010101" charset="-122"/>
              <a:ea typeface="汉仪雅酷黑-85J" panose="00020600040101010101" charset="-122"/>
            </a:endParaRPr>
          </a:p>
          <a:p>
            <a:pPr indent="0" algn="ctr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sub-</a:t>
            </a: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å</a:t>
            </a: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ngstr</a:t>
            </a: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ö</a:t>
            </a: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汉仪雅酷黑-85J" panose="00020600040101010101" charset="-122"/>
                <a:ea typeface="汉仪雅酷黑-85J" panose="00020600040101010101" charset="-122"/>
              </a:rPr>
              <a:t>m snapshot spectroscopy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  <a:latin typeface="汉仪雅酷黑-85J" panose="00020600040101010101" charset="-122"/>
              <a:ea typeface="汉仪雅酷黑-85J" panose="00020600040101010101" charset="-122"/>
            </a:endParaRPr>
          </a:p>
        </p:txBody>
      </p:sp>
      <p:cxnSp>
        <p:nvCxnSpPr>
          <p:cNvPr id="3145728" name="直接连接符 14"/>
          <p:cNvCxnSpPr/>
          <p:nvPr/>
        </p:nvCxnSpPr>
        <p:spPr>
          <a:xfrm flipH="1" flipV="1">
            <a:off x="2347597" y="3937686"/>
            <a:ext cx="7865745" cy="22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文本框 25"/>
          <p:cNvSpPr txBox="1"/>
          <p:nvPr/>
        </p:nvSpPr>
        <p:spPr>
          <a:xfrm>
            <a:off x="5993130" y="4220210"/>
            <a:ext cx="6265545" cy="208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Source: Nature (2025)</a:t>
            </a:r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Authors: Lu Fang, et al.(Tsinghua University)</a:t>
            </a:r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Presenter: Xiyu Wu</a:t>
            </a:r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76" y="902055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7232510" y="5395823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18870" y="2837815"/>
            <a:ext cx="104432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accent1">
                    <a:lumMod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集成铌酸锂光子学实现亚埃级快照光谱成像</a:t>
            </a:r>
            <a:endParaRPr lang="zh-CN" altLang="en-US" sz="4000" b="1">
              <a:solidFill>
                <a:schemeClr val="accent1">
                  <a:lumMod val="50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矩形 54"/>
          <p:cNvSpPr/>
          <p:nvPr/>
        </p:nvSpPr>
        <p:spPr>
          <a:xfrm>
            <a:off x="5403861" y="2195879"/>
            <a:ext cx="902970" cy="297180"/>
          </a:xfrm>
          <a:prstGeom prst="rect">
            <a:avLst/>
          </a:prstGeom>
        </p:spPr>
        <p:txBody>
          <a:bodyPr wrap="none" lIns="63298" tIns="31650" rIns="63298" bIns="31650">
            <a:spAutoFit/>
          </a:bodyPr>
          <a:lstStyle/>
          <a:p>
            <a:r>
              <a:rPr lang="zh-CN" altLang="en-US" sz="1525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</a:t>
            </a:r>
            <a:endParaRPr lang="zh-CN" altLang="en-US" sz="1525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37" name="矩形 47"/>
          <p:cNvSpPr>
            <a:spLocks noChangeArrowheads="1"/>
          </p:cNvSpPr>
          <p:nvPr/>
        </p:nvSpPr>
        <p:spPr bwMode="auto">
          <a:xfrm>
            <a:off x="5413729" y="2438037"/>
            <a:ext cx="1007468" cy="558165"/>
          </a:xfrm>
          <a:prstGeom prst="rect">
            <a:avLst/>
          </a:prstGeom>
          <a:noFill/>
          <a:ln>
            <a:noFill/>
          </a:ln>
        </p:spPr>
        <p:txBody>
          <a:bodyPr wrap="square" lIns="63298" tIns="31650" rIns="63298" bIns="3165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83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pitchFamily="34" charset="-122"/>
              </a:rPr>
              <a:t>此处输入你的正文，文字是您理想的提炼</a:t>
            </a:r>
            <a:endParaRPr lang="zh-CN" altLang="en-US" sz="83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148590"/>
            <a:ext cx="260985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Background</a:t>
            </a:r>
            <a:endParaRPr lang="en-US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1345" y="2080260"/>
            <a:ext cx="112426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State-of-the-Art Limitation: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Traditional spectrometers face an trade-off between 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spectral resolution(</a:t>
            </a:r>
            <a:r>
              <a:rPr lang="zh-CN" altLang="en-US" sz="20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</a:rPr>
              <a:t>光谱分辨率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), optical throughput(</a:t>
            </a:r>
            <a:r>
              <a:rPr lang="zh-CN" altLang="en-US" sz="20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</a:rPr>
              <a:t>光通量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and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 imaging speed(</a:t>
            </a:r>
            <a:r>
              <a:rPr lang="zh-CN" altLang="en-US" sz="20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</a:rPr>
              <a:t>成像速度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).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1345" y="965200"/>
            <a:ext cx="11242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</a:rPr>
              <a:t>·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Core Concept: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High-resolution 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spectroscopic imaging</a:t>
            </a:r>
            <a:r>
              <a:rPr lang="en-US" altLang="zh-CN" sz="20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(光谱成像</a:t>
            </a:r>
            <a:r>
              <a:rPr lang="en-US" altLang="zh-CN" sz="20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)</a:t>
            </a:r>
            <a:r>
              <a:rPr lang="en-US" altLang="zh-CN" sz="200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essential for precision detection. 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345" y="1373505"/>
            <a:ext cx="113315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Detection Demand: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Sub-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å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ngstr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ö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 resolution for atomic line detection and high-throughput snapshot imaging for dynamic or faint targets.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9415" y="3060700"/>
            <a:ext cx="4887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Grating / Prism spectrometers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光栅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/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棱镜色散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05" y="3571875"/>
            <a:ext cx="2686050" cy="2247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354320" y="3060700"/>
            <a:ext cx="2562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NFSSI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(窄带滤波快照)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10600" y="3060700"/>
            <a:ext cx="2829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BMSSI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(宽带调制型快照)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554990" y="6236970"/>
            <a:ext cx="4214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分辨率高，通量低，扫描速度慢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47590" y="6142990"/>
            <a:ext cx="4214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光谱分辨率极高，但透过率极低（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&lt;0.02%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10600" y="4267835"/>
            <a:ext cx="31337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通量大，分辨率一般在纳米级，且取决于编码设计、色散能力和重建算法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9" name="图片 18"/>
          <p:cNvPicPr/>
          <p:nvPr/>
        </p:nvPicPr>
        <p:blipFill>
          <a:blip r:embed="rId2"/>
          <a:srcRect r="46969" b="51328"/>
          <a:stretch>
            <a:fillRect/>
          </a:stretch>
        </p:blipFill>
        <p:spPr>
          <a:xfrm>
            <a:off x="5163185" y="3624580"/>
            <a:ext cx="2495550" cy="24136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4580"/>
            <a:ext cx="3009900" cy="381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07085" y="5979795"/>
            <a:ext cx="3103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</a:t>
            </a:r>
            <a:r>
              <a:rPr lang="zh-CN" altLang="en-US"/>
              <a:t>（</a:t>
            </a:r>
            <a:r>
              <a:rPr lang="en-US" altLang="zh-CN"/>
              <a:t>sinα+sinβ</a:t>
            </a:r>
            <a:r>
              <a:rPr lang="zh-CN" altLang="en-US"/>
              <a:t>）</a:t>
            </a:r>
            <a:r>
              <a:rPr lang="en-US" altLang="zh-CN"/>
              <a:t>=mλ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48636" grpId="0"/>
      <p:bldP spid="10486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文本框 13"/>
          <p:cNvSpPr txBox="1"/>
          <p:nvPr/>
        </p:nvSpPr>
        <p:spPr>
          <a:xfrm>
            <a:off x="236855" y="148590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Objective &amp; Core Contributions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3555" y="964565"/>
            <a:ext cx="41338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</a:rPr>
              <a:t>·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Break the resolution-throughput-speed trade-off.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4810" y="2002155"/>
            <a:ext cx="425259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Key Contributions: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(a) Propose the 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RAFAEL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architecture based on reconfigurable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lithium niobate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铌酸锂）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photonics.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(b) Achieve simultaneous sub-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å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ngstr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ö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 resolution, high transmittance, and high-speed imaging.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(c)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chip-integrated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, miniaturized, and widely applicable   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“玉衡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/>
              <a:t>2</a:t>
            </a:r>
            <a:endParaRPr lang="en-US" altLang="zh-CN" sz="1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r="442"/>
          <a:stretch>
            <a:fillRect/>
          </a:stretch>
        </p:blipFill>
        <p:spPr>
          <a:xfrm>
            <a:off x="4721225" y="1316355"/>
            <a:ext cx="7343775" cy="4951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148590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Device Structure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6855" y="862965"/>
            <a:ext cx="4922520" cy="5410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Transparent top electrode</a:t>
            </a: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Bottom transparent electrode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（透明电极）</a:t>
            </a: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r>
              <a:rPr lang="zh-CN" altLang="en-US" sz="18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用于施加外部电压。</a:t>
            </a:r>
            <a:endParaRPr lang="zh-CN" altLang="en-US" sz="20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Top DBR reflector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Bottom DBR reflector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（分布式DBR 反射镜）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多层介质膜，构成光学微腔。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Spatially Random Lithium Niobate thin-film layer</a:t>
            </a:r>
            <a:r>
              <a:rPr lang="zh-CN" altLang="en-US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（SR</a:t>
            </a:r>
            <a:r>
              <a:rPr lang="en-US" altLang="zh-CN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</a:t>
            </a:r>
            <a:r>
              <a:rPr lang="zh-CN" altLang="en-US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LN 层）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核心功能层，这一层是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像素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化的，整个芯片被划分成二维像素阵列，每个像素对应一个独立的微腔。每个像素的 LN 薄膜厚度存在微小、随机、可控的差异。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CMOS image sensor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图像传感器）：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直接集成在芯片下方，每个像素对准 CMOS 上的一个感光点。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870" y="1028700"/>
            <a:ext cx="3300730" cy="1710055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/>
              <a:t>3</a:t>
            </a:r>
            <a:endParaRPr lang="en-US" altLang="zh-CN" sz="16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366"/>
          <a:stretch>
            <a:fillRect/>
          </a:stretch>
        </p:blipFill>
        <p:spPr>
          <a:xfrm>
            <a:off x="5163185" y="2971165"/>
            <a:ext cx="6932295" cy="3239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/>
              <a:t>4</a:t>
            </a:r>
            <a:endParaRPr lang="en-US" altLang="zh-CN" sz="1600"/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148590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Working Principle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895" y="807720"/>
            <a:ext cx="11888470" cy="2334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A）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FP resonance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法布里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-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珀罗共振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Each pixel resonates at a wavelength determined by thickness and refractive index.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（B）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Electro‑optic effect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电光效应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Voltage changes LN refractive index → shifts resonant wavelength.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（C）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Spatial encoding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空间编码)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Random thickness gives each pixel a unique spectral response.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（D）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Reconfigurable encoding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可重构编码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Multiple voltage states provide diverse encoding patterns.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（E)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Reconstruction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光谱重建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Algorithms recover sub‑ångström spectra from multiple coded snapshots.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 fontAlgn="auto">
              <a:lnSpc>
                <a:spcPct val="130000"/>
              </a:lnSpc>
              <a:buClrTx/>
              <a:buSzTx/>
              <a:buFontTx/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3315970"/>
            <a:ext cx="11569700" cy="274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/>
              <a:t>5</a:t>
            </a:r>
            <a:endParaRPr lang="en-US" altLang="zh-CN" sz="1600"/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00025"/>
            <a:ext cx="893191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PSAIR Reconstruction Framework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40" y="4224020"/>
            <a:ext cx="10058400" cy="2497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0515" y="758825"/>
            <a:ext cx="1200531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 Core Functional Modules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</a:t>
            </a: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r>
              <a:rPr lang="en-US" altLang="zh-CN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MAE Decoder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Restores complete spatio-temporal measurement data, completes missing encodings via inter-frame correlation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恢复完整的时空维度测量数据，通过帧间相关性补全缺失的编码信息</a:t>
            </a:r>
            <a:r>
              <a:rPr lang="en-US" altLang="zh-CN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.</a:t>
            </a:r>
            <a:endParaRPr lang="zh-CN" altLang="en-US" sz="20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PSAM Module (Physics-Driven Core)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基于光学传输模型构建系统观测矩阵，描述“芯片是怎么把三维光谱，压缩成二维图像的”</a:t>
            </a:r>
            <a:r>
              <a:rPr lang="en-US" altLang="zh-CN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.</a:t>
            </a:r>
            <a:endParaRPr lang="zh-CN" altLang="en-US" sz="20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zh-CN" altLang="en-US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通过对芯片像素的物理标定，将耦合的光场信息按照空间、时间、光谱解耦</a:t>
            </a:r>
            <a:r>
              <a:rPr lang="en-US" altLang="zh-CN" sz="20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.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 sz="20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）SPECAT Transformer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：通过空间 - 光谱累积注意力机制（算法同时兼顾“图像细节”和“光谱精度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）优化逆问题求解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/>
              <a:t>6</a:t>
            </a:r>
            <a:endParaRPr lang="en-US" altLang="zh-CN" sz="1600"/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00025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  <a:sym typeface="+mn-ea"/>
              </a:rPr>
              <a:t>Performance Summary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3220" y="924560"/>
            <a:ext cx="4830445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Spectral Resolution: ~0.5 Å (sub‑ångström)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实现了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0.5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埃亚埃级光谱分辨率，通过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SRSM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编码和铌酸锂可重构特性，分辨率提升两个数量级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Optical Transmittance: 73.2%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光学透过率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73.2%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，全面优于传统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NFSSI/BMSSI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方案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Imaging Frame Rate: 88 Hz (88 fps)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Spatial Resolution: 2048 × 2048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在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2048</a:t>
            </a:r>
            <a:r>
              <a:rPr lang="en-US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×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2048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满分辨率下，实现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88Hz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高速成像，性能超越传统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CNN/Transformer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基光谱仪。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Spectral Coverage: 400–1000 nm (12,000 spectral channels)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endParaRPr lang="zh-CN" altLang="en-US" sz="2000">
              <a:solidFill>
                <a:schemeClr val="accent1">
                  <a:lumMod val="7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1763"/>
          <a:stretch>
            <a:fillRect/>
          </a:stretch>
        </p:blipFill>
        <p:spPr>
          <a:xfrm>
            <a:off x="5260340" y="1527810"/>
            <a:ext cx="6765290" cy="4370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 smtClean="0"/>
              <a:t>7</a:t>
            </a:r>
            <a:endParaRPr lang="en-US" altLang="zh-CN" sz="1600" smtClean="0"/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00025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  <a:sym typeface="+mn-ea"/>
              </a:rPr>
              <a:t>Experimental Verification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933" r="53039"/>
          <a:stretch>
            <a:fillRect/>
          </a:stretch>
        </p:blipFill>
        <p:spPr>
          <a:xfrm>
            <a:off x="184150" y="3706495"/>
            <a:ext cx="2843530" cy="2597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3705860"/>
            <a:ext cx="2823845" cy="25971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8160" y="920750"/>
            <a:ext cx="5458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(A) Atomic Spectroscopy 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原子光谱实验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endParaRPr lang="en-US" altLang="zh-CN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6855" y="1381125"/>
            <a:ext cx="5859145" cy="2149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Measured mercury lamp emission lines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(测量汞灯的特征发射峰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Resolved two narrow peaks with spacing of 0.37–0.46 Å</a:t>
            </a:r>
            <a:endParaRPr lang="en-US" altLang="en-US"/>
          </a:p>
          <a:p>
            <a:pPr indent="0" fontAlgn="auto">
              <a:lnSpc>
                <a:spcPct val="130000"/>
              </a:lnSpc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Verified sub‑ångström spectral resolution (~0.5 Å)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50940" y="833120"/>
            <a:ext cx="5835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(B) Material Identification 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材料识别实验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endParaRPr lang="en-US" altLang="zh-CN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1219200"/>
            <a:ext cx="5859145" cy="2149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Distinguished real leaves vs. artificial leaves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（区分真实叶片与仿真叶片）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High similarity (&gt;99.5%) with ground‑truth spectra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Enabled high‑precision material discrimination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35" y="2907665"/>
            <a:ext cx="4197350" cy="3754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 smtClean="0"/>
              <a:t>8</a:t>
            </a:r>
            <a:endParaRPr lang="en-US" altLang="zh-CN" sz="1600" smtClean="0"/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00025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  <a:sym typeface="+mn-ea"/>
              </a:rPr>
              <a:t>Experimental Verification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4655" y="920750"/>
            <a:ext cx="9124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(C) Astronomical Snapshot Spectroscopy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2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天文快照光谱成像</a:t>
            </a:r>
            <a:r>
              <a:rPr lang="en-US" altLang="zh-CN" sz="22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</a:t>
            </a:r>
            <a:endParaRPr lang="en-US" altLang="zh-CN" sz="22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2560" y="1425575"/>
            <a:ext cx="10843260" cy="2674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Large field-of-view stellar spectral imaging in constellation Lyra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（对天琴座区域开展大视场恒星光谱成像）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Captured 5,600+ stellar spectra in a single snapshot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 Spectral resolution: 2.048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2.048 pixels, 0.08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Å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per channel (400–1,000 nm)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Reconstructed spectra show &gt;99% similarity with astronomical ground truth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Clearly resolved stellar hydrogen absorption lines (Hα, Hβ, Hγ, Hδ)  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清晰分辨恒星氢原子吸收线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0" y="4257040"/>
            <a:ext cx="9507855" cy="24377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025" y="854710"/>
            <a:ext cx="3581400" cy="31838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altLang="zh-CN" sz="1600" smtClean="0"/>
              <a:t>9</a:t>
            </a:r>
            <a:endParaRPr lang="en-US" altLang="zh-CN" sz="1600" smtClean="0"/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00025"/>
            <a:ext cx="8931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Conclusion &amp; Outlook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110" y="536575"/>
            <a:ext cx="4316095" cy="55403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909435" y="6076950"/>
            <a:ext cx="4939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2025</a:t>
            </a:r>
            <a:r>
              <a:rPr lang="zh-CN" altLang="en-US" sz="1600"/>
              <a:t>年</a:t>
            </a:r>
            <a:r>
              <a:rPr lang="en-US" altLang="zh-CN" sz="1600"/>
              <a:t>5</a:t>
            </a:r>
            <a:r>
              <a:rPr lang="zh-CN" altLang="en-US" sz="1600"/>
              <a:t>月方璐（右三）团队访问加那利大型望远镜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650240" y="758825"/>
            <a:ext cx="599186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Application Prospects</a:t>
            </a:r>
            <a:endParaRPr lang="en-US" altLang="zh-CN" sz="20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High-precision spectral recognition in materials science, biomonitoring, autonomous driving, and industrial inspection</a:t>
            </a:r>
            <a:endParaRPr lang="en-US" altLang="zh-CN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Large-field astronomical spectral surveys </a:t>
            </a:r>
            <a:endParaRPr lang="en-US" altLang="zh-CN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Future Goals</a:t>
            </a:r>
            <a:endParaRPr lang="en-US" altLang="zh-CN" sz="20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Improve integration and stability of the system</a:t>
            </a:r>
            <a:endParaRPr lang="en-US" altLang="zh-CN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Extend spectral coverage and imaging speed</a:t>
            </a:r>
            <a:endParaRPr lang="en-US" altLang="zh-CN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Promote the development of chip-scale, portable high-resolution spectroscopic imaging systems</a:t>
            </a:r>
            <a:endParaRPr lang="en-US" altLang="zh-CN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未来，将进一步提升系统集成度，拓展光谱覆盖范围，推动这项技术在天文观测、遥感、材料分析以及生物医学等领域的实际应用，为深空探测、瞬态光谱捕捉等前沿科学研究，提供全新的技术支撑。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I1NGQ4MDY4NjMxYWVlMzc3ODM2NDE0MmU1ODUxYzYifQ=="/>
  <p:tag name="commondata" val="eyJoZGlkIjoiN2ViN2M3MDNlZGRiNjQwZjhmNzhmZGNkNzY4NzYwMG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4077</Words>
  <Application>WPS 演示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汉仪雅酷黑-85J</vt:lpstr>
      <vt:lpstr>黑体</vt:lpstr>
      <vt:lpstr>华文楷体</vt:lpstr>
      <vt:lpstr>Calibri</vt:lpstr>
      <vt:lpstr>Times New Roman</vt:lpstr>
      <vt:lpstr>仿宋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陌&amp;千歌</cp:lastModifiedBy>
  <cp:revision>122</cp:revision>
  <dcterms:created xsi:type="dcterms:W3CDTF">2024-02-29T12:43:00Z</dcterms:created>
  <dcterms:modified xsi:type="dcterms:W3CDTF">2026-04-29T07:14:18Z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AD00EC4D54B14C96AA616DE2A4457462_12</vt:lpwstr>
  </property>
  <property fmtid="{D5CDD505-2E9C-101B-9397-08002B2CF9AE}" pid="3" name="KSOProductBuildVer">
    <vt:lpwstr>2052-12.1.0.25865</vt:lpwstr>
  </property>
</Properties>
</file>